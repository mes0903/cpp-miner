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5" r:id="rId3"/>
    <p:sldId id="274" r:id="rId4"/>
    <p:sldId id="262" r:id="rId5"/>
    <p:sldId id="264" r:id="rId6"/>
    <p:sldId id="265" r:id="rId7"/>
    <p:sldId id="278" r:id="rId8"/>
    <p:sldId id="306" r:id="rId9"/>
    <p:sldId id="268" r:id="rId10"/>
    <p:sldId id="269" r:id="rId11"/>
    <p:sldId id="307" r:id="rId12"/>
    <p:sldId id="273" r:id="rId13"/>
    <p:sldId id="275" r:id="rId14"/>
    <p:sldId id="311" r:id="rId15"/>
    <p:sldId id="277" r:id="rId16"/>
    <p:sldId id="279" r:id="rId17"/>
    <p:sldId id="280" r:id="rId18"/>
    <p:sldId id="281" r:id="rId19"/>
    <p:sldId id="308" r:id="rId20"/>
    <p:sldId id="282" r:id="rId21"/>
    <p:sldId id="286" r:id="rId22"/>
    <p:sldId id="315" r:id="rId23"/>
    <p:sldId id="316" r:id="rId24"/>
    <p:sldId id="287" r:id="rId25"/>
    <p:sldId id="289" r:id="rId26"/>
    <p:sldId id="292" r:id="rId27"/>
    <p:sldId id="301" r:id="rId28"/>
    <p:sldId id="293" r:id="rId29"/>
    <p:sldId id="291" r:id="rId30"/>
    <p:sldId id="295" r:id="rId31"/>
    <p:sldId id="296" r:id="rId32"/>
    <p:sldId id="297" r:id="rId33"/>
    <p:sldId id="298" r:id="rId34"/>
    <p:sldId id="299" r:id="rId35"/>
    <p:sldId id="300" r:id="rId36"/>
    <p:sldId id="302" r:id="rId37"/>
    <p:sldId id="303" r:id="rId38"/>
    <p:sldId id="304" r:id="rId39"/>
    <p:sldId id="309" r:id="rId40"/>
    <p:sldId id="310" r:id="rId41"/>
    <p:sldId id="312" r:id="rId42"/>
    <p:sldId id="313" r:id="rId43"/>
    <p:sldId id="314" r:id="rId44"/>
    <p:sldId id="317" r:id="rId45"/>
    <p:sldId id="320" r:id="rId46"/>
    <p:sldId id="319" r:id="rId47"/>
    <p:sldId id="323" r:id="rId48"/>
    <p:sldId id="322" r:id="rId49"/>
    <p:sldId id="324" r:id="rId5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21A967-FCB5-5E40-BCBE-4AB3481B0C75}"/>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907DD5CA-1267-3F93-22AC-D25F514F8D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81704F1-4F74-0E7F-2D8E-DF6B7D336E79}"/>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77B3B659-76B8-B157-5250-E2BB1574F93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5FF7D5-C840-47C0-7925-78DD79C68F8A}"/>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3600192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DD6C4D-A2A7-7BEE-0607-F37DD8CF75D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25A1F2E-1333-F321-9583-58D169C5959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BF8C899-662B-FBE5-07DF-ED35F57485DD}"/>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EC9DBC78-F807-942C-96EA-C431F162B40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FD5371-C0AA-4BE6-FE26-4AFDD65B8FE0}"/>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798443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55ACCF-4A2E-404F-3C6E-CD412632F2D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EC49B38-A1D8-F42D-2FE8-9324276477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20945F-C6BE-2B3D-5DA5-1B5E3128FFF0}"/>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FF9DBF30-412C-1D79-E0E4-01A20C595F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21E289C-B72F-77BE-1D6E-20C4E709A80A}"/>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1526932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CE4CA5-82DF-5180-9A17-A6F5C91446D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238CFC3-AE47-9A1E-6098-9F0FCBB6AE13}"/>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A4E3E98-EFF6-A98F-B050-BB9C9514670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D680D86-8BE9-686F-4FD1-2E65576E0C0C}"/>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6" name="頁尾版面配置區 5">
            <a:extLst>
              <a:ext uri="{FF2B5EF4-FFF2-40B4-BE49-F238E27FC236}">
                <a16:creationId xmlns:a16="http://schemas.microsoft.com/office/drawing/2014/main" id="{D2868D14-1E92-14BB-7882-3BF81029FA3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340FE28-D5EA-EE10-2137-590AFF146619}"/>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114073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F85755-37A4-0CA4-ECD3-0E29037119B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D0FFA93-13CF-B998-8484-F179C909E9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A93E706-3B99-735F-31F5-B8EFDBACBE15}"/>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D592A5-52DE-57FC-E97F-CCC47FC7CD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A237376-BA39-7E24-FDBF-ED4A886E16A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53998F0-CF67-462D-5A36-6FEEF8840323}"/>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8" name="頁尾版面配置區 7">
            <a:extLst>
              <a:ext uri="{FF2B5EF4-FFF2-40B4-BE49-F238E27FC236}">
                <a16:creationId xmlns:a16="http://schemas.microsoft.com/office/drawing/2014/main" id="{ED3C73D3-2F4F-52DA-991B-39ABC462D98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91D2E4EB-6F79-C1DD-10F1-D93CDF8238CE}"/>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3318078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99CF5A-092B-6414-C5E6-7C2067C0C8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C8EE9F3-AA9B-CF20-83A0-2066C70E7BDC}"/>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4" name="頁尾版面配置區 3">
            <a:extLst>
              <a:ext uri="{FF2B5EF4-FFF2-40B4-BE49-F238E27FC236}">
                <a16:creationId xmlns:a16="http://schemas.microsoft.com/office/drawing/2014/main" id="{82EEC767-A32F-3615-5A41-4B9D02ACFFB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0A2929A-FFBD-70D5-9FFF-499F40C0BC95}"/>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77204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42B838-3840-94B7-FFA3-8881F41DEE05}"/>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3" name="頁尾版面配置區 2">
            <a:extLst>
              <a:ext uri="{FF2B5EF4-FFF2-40B4-BE49-F238E27FC236}">
                <a16:creationId xmlns:a16="http://schemas.microsoft.com/office/drawing/2014/main" id="{0309F588-7B6F-96F3-D79E-8D0C2B3E8A1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B7692FA8-2036-3455-83E9-04E8E3716801}"/>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408002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DEF1B6-B83D-AE14-C297-D4D09E2AEF8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5B7560B-FB24-8F99-0454-70688D7D87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E90F3FC-1A7B-23C3-CF3C-45AB86907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7541A47-F1E6-AEA1-999C-49D2FFC759E1}"/>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6" name="頁尾版面配置區 5">
            <a:extLst>
              <a:ext uri="{FF2B5EF4-FFF2-40B4-BE49-F238E27FC236}">
                <a16:creationId xmlns:a16="http://schemas.microsoft.com/office/drawing/2014/main" id="{27ABDDFC-89FD-4F63-6233-47FB4E7E26E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DC92DCE-51B3-52CA-1B2A-5D7B83BB7349}"/>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2994483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A0CBE9-AD59-A155-E505-75CB2EE3FC2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3463844-561A-63A9-7B4E-D228D65B9E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6AA9BBD-22E5-D761-70CE-D28B6FAEE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9F86FB9-59B6-BBDD-2C59-4A64AB77E24A}"/>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6" name="頁尾版面配置區 5">
            <a:extLst>
              <a:ext uri="{FF2B5EF4-FFF2-40B4-BE49-F238E27FC236}">
                <a16:creationId xmlns:a16="http://schemas.microsoft.com/office/drawing/2014/main" id="{51C5B1D4-9224-9020-1C00-71DB2C26BF6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3252088-587B-6498-2484-6EB2778B68E9}"/>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966795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03E18B-EFA1-3896-6847-CDB98D622787}"/>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A5914EB-7E04-8C7D-5D05-EBC42A01AC7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1BCD2E4-7A75-2A5B-FEC0-D7C9251374CF}"/>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D945A4E2-8299-875F-7224-998F61E5876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DE83D34-AE4A-508D-07E5-A1787774523C}"/>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35407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5D76A68-6954-2370-B227-F41BA7652E3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80C5A5B-15C8-50D1-801A-D549C7F0923D}"/>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C2D2E11-AB08-53A9-C173-59224CACC097}"/>
              </a:ext>
            </a:extLst>
          </p:cNvPr>
          <p:cNvSpPr>
            <a:spLocks noGrp="1"/>
          </p:cNvSpPr>
          <p:nvPr>
            <p:ph type="dt" sz="half" idx="10"/>
          </p:nvPr>
        </p:nvSpPr>
        <p:spPr/>
        <p:txBody>
          <a:bodyPr/>
          <a:lstStyle/>
          <a:p>
            <a:fld id="{66B3B52A-54EC-4E48-9167-1441BA59FC5F}"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5E477B82-86E2-B284-2605-D9DDF42D3A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30949D5-59BD-0B27-6B5A-2BDA1D8AC601}"/>
              </a:ext>
            </a:extLst>
          </p:cNvPr>
          <p:cNvSpPr>
            <a:spLocks noGrp="1"/>
          </p:cNvSpPr>
          <p:nvPr>
            <p:ph type="sldNum" sz="quarter" idx="12"/>
          </p:nvPr>
        </p:nvSpPr>
        <p:spPr/>
        <p:txBody>
          <a:body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3345828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5B76B5B-4A38-528C-3D6F-336DE58F35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9E9FBFB-0362-E7D2-CB86-D396D74769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3F5F35E-5DD1-9705-2AB3-8CFD7780DD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B3B52A-54EC-4E48-9167-1441BA59FC5F}"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4940380C-4C90-9DCD-30FB-3CF6E4D031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9BADAC8-EF03-0DC9-8757-4E3A225E02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D7BFA0-49BB-4FB1-8A9D-B3760D9FBA78}" type="slidenum">
              <a:rPr lang="zh-TW" altLang="en-US" smtClean="0"/>
              <a:t>‹#›</a:t>
            </a:fld>
            <a:endParaRPr lang="zh-TW" altLang="en-US"/>
          </a:p>
        </p:txBody>
      </p:sp>
    </p:spTree>
    <p:extLst>
      <p:ext uri="{BB962C8B-B14F-4D97-AF65-F5344CB8AC3E}">
        <p14:creationId xmlns:p14="http://schemas.microsoft.com/office/powerpoint/2010/main" val="540832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es0903.github.io/Cpp-Miner/Miner_main/Allocator_PM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Extra-Creativity/Modern-Cpp-Basic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jemalloc/jemalloc/blob/dev/src/jemalloc.c#L3289"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playlist?list=PLs3KjaCtOwSYX3X0L36NgwK0pxZZavDSF"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jemalloc/jemalloc/blob/dev/src/jemalloc.c#L3289"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jemalloc/jemalloc/blob/dev/src/jemalloc.c#L3289"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odbolt.org/z/16x4rPE3z"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eb.archive.org/web/20140307111122fw_/http:/jjhou.boolan.com/myan-alexander.ht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imsong-cpp.github.io/cppwp/n4950/containers#container.alloc.reqmts-note-2" TargetMode="External"/><Relationship Id="rId2" Type="http://schemas.openxmlformats.org/officeDocument/2006/relationships/hyperlink" Target="https://timsong-cpp.github.io/cppwp/n4950/containers#container.reqmts-64"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timsong-cpp.github.io/cppwp/n4950/containers#container.alloc.reqmts-note-2" TargetMode="External"/><Relationship Id="rId2" Type="http://schemas.openxmlformats.org/officeDocument/2006/relationships/hyperlink" Target="https://timsong-cpp.github.io/cppwp/n4950/containers#container.reqmts-64"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odbolt.org/z/sW4fjTMP3"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timsong-cpp.github.io/cppwp/n4950/container.requirements#pre-3" TargetMode="External"/><Relationship Id="rId2" Type="http://schemas.openxmlformats.org/officeDocument/2006/relationships/hyperlink" Target="https://en.cppreference.com/w/cpp/named_req/AllocatorAwareContainer"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hyperlink" Target="https://en.cppreference.com/w/cpp/memory/allocator_traits.html" TargetMode="External"/><Relationship Id="rId2" Type="http://schemas.openxmlformats.org/officeDocument/2006/relationships/hyperlink" Target="https://en.cppreference.com/w/cpp/named_req/Allocator" TargetMode="External"/><Relationship Id="rId1" Type="http://schemas.openxmlformats.org/officeDocument/2006/relationships/slideLayout" Target="../slideLayouts/slideLayout2.xml"/><Relationship Id="rId4" Type="http://schemas.openxmlformats.org/officeDocument/2006/relationships/hyperlink" Target="https://howardhinnant.github.io/allocator_boilerplate.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godbolt.org/z/8x3s9e39v" TargetMode="External"/><Relationship Id="rId2" Type="http://schemas.openxmlformats.org/officeDocument/2006/relationships/hyperlink" Target="https://godbolt.org/z/oPcqG5hxo"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open-std.org/jtc1/sc22/wg21/docs/papers/2014/n3916.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odbolt.org/z/s3eYGbYxx"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godbolt.org/z/zd6fxrbo3"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timsong-cpp.github.io/cppwp/n4950/containers#container.alloc.reqmts-note-2" TargetMode="External"/><Relationship Id="rId2" Type="http://schemas.openxmlformats.org/officeDocument/2006/relationships/hyperlink" Target="https://timsong-cpp.github.io/cppwp/n4950/containers#container.reqmts-64"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timsong-cpp.github.io/cppwp/n4950/allocator.traits.members#6"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timsong-cpp.github.io/cppwp/n4950/mem.poly.allocator.mem#15" TargetMode="External"/><Relationship Id="rId2" Type="http://schemas.openxmlformats.org/officeDocument/2006/relationships/hyperlink" Target="https://www.open-std.org/jtc1/sc22/wg21/docs/papers/2009/n2982.pdf"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stackoverflow.com/questions/39414610/why-are-are-stdallocators-construct-and-destroy-functions-deprecated-in-c17" TargetMode="External"/><Relationship Id="rId2" Type="http://schemas.openxmlformats.org/officeDocument/2006/relationships/hyperlink" Target="https://github.com/llvm/llvm-project/blob/d59e0ba80b85b5b74995ee441b681d51b2a5d1b0/libcxx/include/__memory/allocator_traits.h#L292" TargetMode="External"/><Relationship Id="rId1" Type="http://schemas.openxmlformats.org/officeDocument/2006/relationships/slideLayout" Target="../slideLayouts/slideLayout2.xml"/><Relationship Id="rId5" Type="http://schemas.openxmlformats.org/officeDocument/2006/relationships/hyperlink" Target="https://github.com/llvm/llvm-project/blob/d59e0ba80b85b5b74995ee441b681d51b2a5d1b0/libcxx/include/__memory/allocator_arg_t.h#L51" TargetMode="External"/><Relationship Id="rId4" Type="http://schemas.openxmlformats.org/officeDocument/2006/relationships/hyperlink" Target="https://github.com/llvm/llvm-project/blob/d59e0ba80b85b5b74995ee441b681d51b2a5d1b0/libcxx/include/__memory/allocator_arg_t.h#L40"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godbolt.org/z/fYWbojra9"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98A6B7-5289-5953-8CCD-DD0329691F5F}"/>
              </a:ext>
            </a:extLst>
          </p:cNvPr>
          <p:cNvSpPr>
            <a:spLocks noGrp="1"/>
          </p:cNvSpPr>
          <p:nvPr>
            <p:ph type="ctrTitle"/>
          </p:nvPr>
        </p:nvSpPr>
        <p:spPr/>
        <p:txBody>
          <a:bodyPr/>
          <a:lstStyle/>
          <a:p>
            <a:r>
              <a:rPr lang="en-US" altLang="zh-TW" dirty="0"/>
              <a:t>Allocator &amp; PMR</a:t>
            </a:r>
            <a:endParaRPr lang="zh-TW" altLang="en-US" dirty="0"/>
          </a:p>
        </p:txBody>
      </p:sp>
      <p:sp>
        <p:nvSpPr>
          <p:cNvPr id="7" name="副標題 6">
            <a:extLst>
              <a:ext uri="{FF2B5EF4-FFF2-40B4-BE49-F238E27FC236}">
                <a16:creationId xmlns:a16="http://schemas.microsoft.com/office/drawing/2014/main" id="{1A9AE5BC-9D98-4A3A-2F6B-C5F8B2485230}"/>
              </a:ext>
            </a:extLst>
          </p:cNvPr>
          <p:cNvSpPr>
            <a:spLocks noGrp="1"/>
          </p:cNvSpPr>
          <p:nvPr>
            <p:ph type="subTitle" idx="1"/>
          </p:nvPr>
        </p:nvSpPr>
        <p:spPr/>
        <p:txBody>
          <a:bodyPr/>
          <a:lstStyle/>
          <a:p>
            <a:r>
              <a:rPr lang="en-US" altLang="zh-TW" dirty="0"/>
              <a:t>By Mes</a:t>
            </a:r>
          </a:p>
          <a:p>
            <a:r>
              <a:rPr lang="en-US" altLang="zh-TW" sz="1200" dirty="0"/>
              <a:t>(The contain is modified from </a:t>
            </a:r>
            <a:r>
              <a:rPr lang="zh-TW" altLang="en-US" sz="1200" dirty="0">
                <a:hlinkClick r:id="rId2"/>
              </a:rPr>
              <a:t>礦坑系列 ── </a:t>
            </a:r>
            <a:r>
              <a:rPr lang="en-US" altLang="zh-TW" sz="1200" dirty="0">
                <a:hlinkClick r:id="rId2"/>
              </a:rPr>
              <a:t>Allocator &amp; PMR</a:t>
            </a:r>
            <a:r>
              <a:rPr lang="en-US" altLang="zh-TW" sz="1200" dirty="0"/>
              <a:t>)</a:t>
            </a:r>
          </a:p>
        </p:txBody>
      </p:sp>
    </p:spTree>
    <p:extLst>
      <p:ext uri="{BB962C8B-B14F-4D97-AF65-F5344CB8AC3E}">
        <p14:creationId xmlns:p14="http://schemas.microsoft.com/office/powerpoint/2010/main" val="334098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Allocator &amp; PMR</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a:xfrm>
            <a:off x="838200" y="1825624"/>
            <a:ext cx="10515600" cy="5032375"/>
          </a:xfrm>
        </p:spPr>
        <p:txBody>
          <a:bodyPr>
            <a:normAutofit/>
          </a:bodyPr>
          <a:lstStyle/>
          <a:p>
            <a:r>
              <a:rPr lang="en-US" altLang="zh-TW" dirty="0"/>
              <a:t>Brief History</a:t>
            </a:r>
          </a:p>
          <a:p>
            <a:r>
              <a:rPr lang="en-US" altLang="zh-TW" dirty="0"/>
              <a:t>Allocator usage</a:t>
            </a:r>
          </a:p>
          <a:p>
            <a:pPr lvl="1"/>
            <a:r>
              <a:rPr lang="en-US" altLang="zh-TW" dirty="0"/>
              <a:t>What is allocator?</a:t>
            </a:r>
          </a:p>
          <a:p>
            <a:pPr lvl="1"/>
            <a:r>
              <a:rPr lang="en-US" altLang="zh-TW" dirty="0"/>
              <a:t>Custom allocator</a:t>
            </a:r>
          </a:p>
          <a:p>
            <a:r>
              <a:rPr lang="en-US" altLang="zh-TW" dirty="0"/>
              <a:t>PMR </a:t>
            </a:r>
          </a:p>
          <a:p>
            <a:pPr lvl="1"/>
            <a:r>
              <a:rPr lang="en-US" altLang="zh-TW" dirty="0"/>
              <a:t>What &amp; why PMR</a:t>
            </a:r>
          </a:p>
          <a:p>
            <a:pPr lvl="1"/>
            <a:r>
              <a:rPr lang="en-US" altLang="zh-TW" dirty="0"/>
              <a:t>PMR usage</a:t>
            </a:r>
          </a:p>
          <a:p>
            <a:pPr lvl="1"/>
            <a:r>
              <a:rPr lang="en-US" altLang="zh-TW" dirty="0"/>
              <a:t>Custom '</a:t>
            </a:r>
            <a:r>
              <a:rPr lang="en-US" altLang="zh-TW" dirty="0" err="1"/>
              <a:t>memory_resource</a:t>
            </a:r>
            <a:r>
              <a:rPr lang="en-US" altLang="zh-TW" dirty="0"/>
              <a:t>'</a:t>
            </a:r>
          </a:p>
          <a:p>
            <a:r>
              <a:rPr lang="en-US" altLang="zh-TW" dirty="0"/>
              <a:t>Allocator/PMR for user defined class</a:t>
            </a:r>
          </a:p>
          <a:p>
            <a:pPr lvl="1"/>
            <a:r>
              <a:rPr lang="en-US" altLang="zh-TW" dirty="0"/>
              <a:t>std::</a:t>
            </a:r>
            <a:r>
              <a:rPr lang="en-US" altLang="zh-TW" dirty="0" err="1"/>
              <a:t>use_allocator_v</a:t>
            </a:r>
            <a:endParaRPr lang="en-US" altLang="zh-TW" dirty="0"/>
          </a:p>
          <a:p>
            <a:pPr lvl="1"/>
            <a:r>
              <a:rPr lang="en-US" altLang="zh-TW" dirty="0"/>
              <a:t>Uses-allocator construction</a:t>
            </a:r>
          </a:p>
          <a:p>
            <a:pPr lvl="1"/>
            <a:endParaRPr lang="zh-TW" altLang="en-US" dirty="0"/>
          </a:p>
        </p:txBody>
      </p:sp>
    </p:spTree>
    <p:extLst>
      <p:ext uri="{BB962C8B-B14F-4D97-AF65-F5344CB8AC3E}">
        <p14:creationId xmlns:p14="http://schemas.microsoft.com/office/powerpoint/2010/main" val="2486093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What we will NOT cover </a:t>
            </a:r>
            <a:r>
              <a:rPr lang="en-US" altLang="zh-TW" sz="1800" dirty="0"/>
              <a:t>(but you may </a:t>
            </a:r>
            <a:r>
              <a:rPr lang="en-US" altLang="zh-TW" sz="1800" dirty="0" err="1"/>
              <a:t>wanna</a:t>
            </a:r>
            <a:r>
              <a:rPr lang="en-US" altLang="zh-TW" sz="1800" dirty="0"/>
              <a:t> know)</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a:xfrm>
            <a:off x="838200" y="1825625"/>
            <a:ext cx="10515600" cy="4667250"/>
          </a:xfrm>
        </p:spPr>
        <p:txBody>
          <a:bodyPr>
            <a:normAutofit lnSpcReduction="10000"/>
          </a:bodyPr>
          <a:lstStyle/>
          <a:p>
            <a:r>
              <a:rPr lang="en-US" altLang="zh-TW" dirty="0"/>
              <a:t>Low-level memory management</a:t>
            </a:r>
          </a:p>
          <a:p>
            <a:pPr lvl="1"/>
            <a:r>
              <a:rPr lang="en-US" altLang="zh-TW" dirty="0"/>
              <a:t>Object layout</a:t>
            </a:r>
          </a:p>
          <a:p>
            <a:pPr lvl="2"/>
            <a:r>
              <a:rPr lang="en-US" altLang="zh-TW" sz="1800" dirty="0"/>
              <a:t>Empty Base (Class) Optimization (EBO/EBCO)</a:t>
            </a:r>
          </a:p>
          <a:p>
            <a:pPr lvl="2"/>
            <a:r>
              <a:rPr lang="en-US" altLang="zh-TW" sz="1800" dirty="0"/>
              <a:t>Standard layout</a:t>
            </a:r>
          </a:p>
          <a:p>
            <a:pPr lvl="2"/>
            <a:r>
              <a:rPr lang="en-US" altLang="zh-TW" sz="1800" dirty="0"/>
              <a:t>Layout compatible &amp; common initial sequence</a:t>
            </a:r>
          </a:p>
          <a:p>
            <a:pPr lvl="2"/>
            <a:r>
              <a:rPr lang="en-US" altLang="zh-TW" sz="1800" dirty="0"/>
              <a:t>Alignment ('</a:t>
            </a:r>
            <a:r>
              <a:rPr lang="en-US" altLang="zh-TW" sz="1800" dirty="0" err="1"/>
              <a:t>alignas</a:t>
            </a:r>
            <a:r>
              <a:rPr lang="en-US" altLang="zh-TW" sz="1800" dirty="0"/>
              <a:t>'/</a:t>
            </a:r>
            <a:r>
              <a:rPr lang="en-US" altLang="zh-TW" sz="1800" dirty="0" err="1"/>
              <a:t>alignof</a:t>
            </a:r>
            <a:r>
              <a:rPr lang="en-US" altLang="zh-TW" sz="1800" dirty="0"/>
              <a:t> usage)</a:t>
            </a:r>
          </a:p>
          <a:p>
            <a:pPr lvl="2"/>
            <a:r>
              <a:rPr lang="en-US" altLang="zh-TW" sz="1800" dirty="0"/>
              <a:t>False sharing ('std::</a:t>
            </a:r>
            <a:r>
              <a:rPr lang="en-US" altLang="zh-TW" sz="1800" dirty="0" err="1"/>
              <a:t>hardware_destructive_interference_size</a:t>
            </a:r>
            <a:r>
              <a:rPr lang="en-US" altLang="zh-TW" sz="1800" dirty="0"/>
              <a:t>' usage)</a:t>
            </a:r>
          </a:p>
          <a:p>
            <a:pPr lvl="1"/>
            <a:r>
              <a:rPr lang="en-US" altLang="zh-TW" dirty="0"/>
              <a:t>Operator new/delete detail</a:t>
            </a:r>
          </a:p>
          <a:p>
            <a:pPr lvl="2"/>
            <a:r>
              <a:rPr lang="en-US" altLang="zh-TW" sz="1800" dirty="0"/>
              <a:t>Sized-delete</a:t>
            </a:r>
          </a:p>
          <a:p>
            <a:pPr lvl="2"/>
            <a:r>
              <a:rPr lang="en-US" altLang="zh-TW" sz="1800" dirty="0"/>
              <a:t>Aligned new/delete</a:t>
            </a:r>
          </a:p>
          <a:p>
            <a:pPr lvl="1"/>
            <a:r>
              <a:rPr lang="en-US" altLang="zh-TW" sz="2400" dirty="0"/>
              <a:t>You can check </a:t>
            </a:r>
            <a:r>
              <a:rPr lang="en-US" altLang="zh-TW" sz="2400" dirty="0">
                <a:hlinkClick r:id="rId2"/>
              </a:rPr>
              <a:t>Modern-</a:t>
            </a:r>
            <a:r>
              <a:rPr lang="en-US" altLang="zh-TW" sz="2400" dirty="0" err="1">
                <a:hlinkClick r:id="rId2"/>
              </a:rPr>
              <a:t>Cpp</a:t>
            </a:r>
            <a:r>
              <a:rPr lang="en-US" altLang="zh-TW" sz="2400" dirty="0">
                <a:hlinkClick r:id="rId2"/>
              </a:rPr>
              <a:t>-Basics</a:t>
            </a:r>
            <a:r>
              <a:rPr lang="en-US" altLang="zh-TW" sz="2400" dirty="0"/>
              <a:t> </a:t>
            </a:r>
            <a:r>
              <a:rPr lang="en-US" altLang="zh-TW" sz="2800" dirty="0"/>
              <a:t>for this part</a:t>
            </a:r>
          </a:p>
          <a:p>
            <a:r>
              <a:rPr lang="en-US" altLang="zh-TW" dirty="0"/>
              <a:t>The strategy of memory allocation algorithm</a:t>
            </a:r>
          </a:p>
          <a:p>
            <a:pPr lvl="1"/>
            <a:r>
              <a:rPr lang="en-US" altLang="zh-TW" dirty="0"/>
              <a:t>Include too detailed information in PMR memory resource</a:t>
            </a:r>
          </a:p>
          <a:p>
            <a:endParaRPr lang="zh-TW" altLang="en-US" dirty="0"/>
          </a:p>
        </p:txBody>
      </p:sp>
    </p:spTree>
    <p:extLst>
      <p:ext uri="{BB962C8B-B14F-4D97-AF65-F5344CB8AC3E}">
        <p14:creationId xmlns:p14="http://schemas.microsoft.com/office/powerpoint/2010/main" val="1409508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Aside</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p:txBody>
          <a:bodyPr>
            <a:normAutofit lnSpcReduction="10000"/>
          </a:bodyPr>
          <a:lstStyle/>
          <a:p>
            <a:r>
              <a:rPr lang="en-US" altLang="zh-TW" b="0" i="0" dirty="0">
                <a:effectLst/>
                <a:latin typeface="Inter"/>
              </a:rPr>
              <a:t>MISRA C/C++ spec prohibit heap allocation </a:t>
            </a:r>
            <a:r>
              <a:rPr lang="en-US" altLang="zh-TW" sz="1400" b="0" i="0" dirty="0">
                <a:effectLst/>
                <a:latin typeface="Inter"/>
              </a:rPr>
              <a:t>(heard from my friend)</a:t>
            </a:r>
          </a:p>
          <a:p>
            <a:r>
              <a:rPr lang="en-US" altLang="zh-TW" b="0" i="0" dirty="0">
                <a:effectLst/>
                <a:latin typeface="Inter"/>
              </a:rPr>
              <a:t>Due to historical issues, things are a bit messy.</a:t>
            </a:r>
          </a:p>
          <a:p>
            <a:r>
              <a:rPr lang="en-US" altLang="zh-TW" dirty="0"/>
              <a:t>Allocator &amp; PMR is typically used with STL containers.</a:t>
            </a:r>
          </a:p>
          <a:p>
            <a:pPr lvl="1"/>
            <a:r>
              <a:rPr lang="en-US" altLang="zh-TW" dirty="0"/>
              <a:t>To eliminate the overhead of heap allocation.</a:t>
            </a:r>
          </a:p>
          <a:p>
            <a:r>
              <a:rPr lang="en-US" altLang="zh-TW" dirty="0">
                <a:solidFill>
                  <a:schemeClr val="bg2">
                    <a:lumMod val="75000"/>
                  </a:schemeClr>
                </a:solidFill>
              </a:rPr>
              <a:t>Hard to ensure that people will use the correct type in large repo.</a:t>
            </a:r>
          </a:p>
          <a:p>
            <a:r>
              <a:rPr lang="en-US" altLang="zh-TW" dirty="0">
                <a:solidFill>
                  <a:schemeClr val="bg2">
                    <a:lumMod val="75000"/>
                  </a:schemeClr>
                </a:solidFill>
              </a:rPr>
              <a:t>For “global memory pool”</a:t>
            </a:r>
          </a:p>
          <a:p>
            <a:pPr lvl="1"/>
            <a:r>
              <a:rPr lang="en-US" altLang="zh-TW" dirty="0">
                <a:solidFill>
                  <a:schemeClr val="bg2">
                    <a:lumMod val="75000"/>
                  </a:schemeClr>
                </a:solidFill>
              </a:rPr>
              <a:t>You typically want 3rd-party lib to be managed by your pool.</a:t>
            </a:r>
          </a:p>
          <a:p>
            <a:pPr lvl="1"/>
            <a:r>
              <a:rPr lang="en-US" altLang="zh-TW" dirty="0">
                <a:solidFill>
                  <a:schemeClr val="bg2">
                    <a:lumMod val="75000"/>
                  </a:schemeClr>
                </a:solidFill>
              </a:rPr>
              <a:t>Allocator &amp; PMR can't really solve the problem in this scenarios.</a:t>
            </a:r>
          </a:p>
          <a:p>
            <a:pPr lvl="1"/>
            <a:r>
              <a:rPr lang="en-US" altLang="zh-TW" dirty="0">
                <a:solidFill>
                  <a:schemeClr val="bg2">
                    <a:lumMod val="75000"/>
                  </a:schemeClr>
                </a:solidFill>
              </a:rPr>
              <a:t>Thus you still need to replace functions like malloc, </a:t>
            </a:r>
            <a:r>
              <a:rPr lang="en-US" altLang="zh-TW" dirty="0" err="1">
                <a:solidFill>
                  <a:schemeClr val="bg2">
                    <a:lumMod val="75000"/>
                  </a:schemeClr>
                </a:solidFill>
              </a:rPr>
              <a:t>alloc</a:t>
            </a:r>
            <a:r>
              <a:rPr lang="en-US" altLang="zh-TW" dirty="0">
                <a:solidFill>
                  <a:schemeClr val="bg2">
                    <a:lumMod val="75000"/>
                  </a:schemeClr>
                </a:solidFill>
              </a:rPr>
              <a:t>, or </a:t>
            </a:r>
            <a:r>
              <a:rPr lang="en-US" altLang="zh-TW" dirty="0" err="1">
                <a:solidFill>
                  <a:schemeClr val="bg2">
                    <a:lumMod val="75000"/>
                  </a:schemeClr>
                </a:solidFill>
              </a:rPr>
              <a:t>realloc</a:t>
            </a:r>
            <a:r>
              <a:rPr lang="en-US" altLang="zh-TW" dirty="0">
                <a:solidFill>
                  <a:schemeClr val="bg2">
                    <a:lumMod val="75000"/>
                  </a:schemeClr>
                </a:solidFill>
              </a:rPr>
              <a:t>.</a:t>
            </a:r>
          </a:p>
          <a:p>
            <a:pPr lvl="2"/>
            <a:r>
              <a:rPr lang="en-US" altLang="zh-TW" dirty="0">
                <a:solidFill>
                  <a:schemeClr val="bg2">
                    <a:lumMod val="75000"/>
                  </a:schemeClr>
                </a:solidFill>
              </a:rPr>
              <a:t>Like </a:t>
            </a:r>
            <a:r>
              <a:rPr lang="en-US" altLang="zh-TW" dirty="0">
                <a:solidFill>
                  <a:schemeClr val="bg2">
                    <a:lumMod val="75000"/>
                  </a:schemeClr>
                </a:solidFill>
                <a:hlinkClick r:id="rId2">
                  <a:extLst>
                    <a:ext uri="{A12FA001-AC4F-418D-AE19-62706E023703}">
                      <ahyp:hlinkClr xmlns:ahyp="http://schemas.microsoft.com/office/drawing/2018/hyperlinkcolor" val="tx"/>
                    </a:ext>
                  </a:extLst>
                </a:hlinkClick>
              </a:rPr>
              <a:t>jemalloc</a:t>
            </a:r>
            <a:r>
              <a:rPr lang="en-US" altLang="zh-TW" dirty="0">
                <a:solidFill>
                  <a:schemeClr val="bg2">
                    <a:lumMod val="75000"/>
                  </a:schemeClr>
                </a:solidFill>
              </a:rPr>
              <a:t> just override it</a:t>
            </a:r>
          </a:p>
        </p:txBody>
      </p:sp>
    </p:spTree>
    <p:extLst>
      <p:ext uri="{BB962C8B-B14F-4D97-AF65-F5344CB8AC3E}">
        <p14:creationId xmlns:p14="http://schemas.microsoft.com/office/powerpoint/2010/main" val="67673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a:extLst>
              <a:ext uri="{FF2B5EF4-FFF2-40B4-BE49-F238E27FC236}">
                <a16:creationId xmlns:a16="http://schemas.microsoft.com/office/drawing/2014/main" id="{B6D2C398-9200-E5A4-E399-2CF8A7F0B308}"/>
              </a:ext>
            </a:extLst>
          </p:cNvPr>
          <p:cNvPicPr>
            <a:picLocks noChangeAspect="1"/>
          </p:cNvPicPr>
          <p:nvPr/>
        </p:nvPicPr>
        <p:blipFill>
          <a:blip r:embed="rId2"/>
          <a:stretch>
            <a:fillRect/>
          </a:stretch>
        </p:blipFill>
        <p:spPr>
          <a:xfrm>
            <a:off x="0" y="0"/>
            <a:ext cx="12192000" cy="6858000"/>
          </a:xfrm>
          <a:prstGeom prst="rect">
            <a:avLst/>
          </a:prstGeom>
        </p:spPr>
      </p:pic>
      <p:sp>
        <p:nvSpPr>
          <p:cNvPr id="12" name="文字方塊 11">
            <a:extLst>
              <a:ext uri="{FF2B5EF4-FFF2-40B4-BE49-F238E27FC236}">
                <a16:creationId xmlns:a16="http://schemas.microsoft.com/office/drawing/2014/main" id="{200BAE73-C456-F35A-9EC0-BA6446D599C7}"/>
              </a:ext>
            </a:extLst>
          </p:cNvPr>
          <p:cNvSpPr txBox="1"/>
          <p:nvPr/>
        </p:nvSpPr>
        <p:spPr>
          <a:xfrm>
            <a:off x="222584" y="4692315"/>
            <a:ext cx="4842711" cy="461665"/>
          </a:xfrm>
          <a:prstGeom prst="rect">
            <a:avLst/>
          </a:prstGeom>
          <a:noFill/>
        </p:spPr>
        <p:txBody>
          <a:bodyPr wrap="square" rtlCol="0">
            <a:spAutoFit/>
          </a:bodyPr>
          <a:lstStyle/>
          <a:p>
            <a:r>
              <a:rPr lang="en-US" altLang="zh-TW" sz="2400" dirty="0"/>
              <a:t>A simple example from </a:t>
            </a:r>
            <a:r>
              <a:rPr lang="en-US" altLang="zh-TW" sz="2400" b="0" i="0" dirty="0">
                <a:effectLst/>
                <a:latin typeface="Inter"/>
                <a:hlinkClick r:id="rId3"/>
              </a:rPr>
              <a:t>Jason Turner</a:t>
            </a:r>
            <a:endParaRPr lang="zh-TW" altLang="en-US" sz="2400" dirty="0"/>
          </a:p>
        </p:txBody>
      </p:sp>
    </p:spTree>
    <p:extLst>
      <p:ext uri="{BB962C8B-B14F-4D97-AF65-F5344CB8AC3E}">
        <p14:creationId xmlns:p14="http://schemas.microsoft.com/office/powerpoint/2010/main" val="1682332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Aside</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a:xfrm>
            <a:off x="838200" y="1825625"/>
            <a:ext cx="10515600" cy="4244975"/>
          </a:xfrm>
        </p:spPr>
        <p:txBody>
          <a:bodyPr>
            <a:normAutofit lnSpcReduction="10000"/>
          </a:bodyPr>
          <a:lstStyle/>
          <a:p>
            <a:r>
              <a:rPr lang="en-US" altLang="zh-TW" b="0" i="0" dirty="0">
                <a:solidFill>
                  <a:schemeClr val="bg2">
                    <a:lumMod val="75000"/>
                  </a:schemeClr>
                </a:solidFill>
                <a:effectLst/>
                <a:latin typeface="Inter"/>
              </a:rPr>
              <a:t>MISRA C/C++ spec prohibit heap allocation </a:t>
            </a:r>
            <a:r>
              <a:rPr lang="en-US" altLang="zh-TW" sz="1400" b="0" i="0" dirty="0">
                <a:solidFill>
                  <a:schemeClr val="bg2">
                    <a:lumMod val="75000"/>
                  </a:schemeClr>
                </a:solidFill>
                <a:effectLst/>
                <a:latin typeface="Inter"/>
              </a:rPr>
              <a:t>(heard from my friend)</a:t>
            </a:r>
          </a:p>
          <a:p>
            <a:r>
              <a:rPr lang="en-US" altLang="zh-TW" b="0" i="0" dirty="0">
                <a:solidFill>
                  <a:schemeClr val="bg2">
                    <a:lumMod val="75000"/>
                  </a:schemeClr>
                </a:solidFill>
                <a:effectLst/>
                <a:latin typeface="Inter"/>
              </a:rPr>
              <a:t>Due to historical issues, things are a bit messy.</a:t>
            </a:r>
            <a:endParaRPr lang="en-US" altLang="zh-TW" dirty="0">
              <a:solidFill>
                <a:schemeClr val="bg2">
                  <a:lumMod val="75000"/>
                </a:schemeClr>
              </a:solidFill>
            </a:endParaRPr>
          </a:p>
          <a:p>
            <a:r>
              <a:rPr lang="en-US" altLang="zh-TW" dirty="0">
                <a:solidFill>
                  <a:schemeClr val="bg2">
                    <a:lumMod val="75000"/>
                  </a:schemeClr>
                </a:solidFill>
              </a:rPr>
              <a:t>Allocator &amp; PMR is typically used with STL containers.</a:t>
            </a:r>
          </a:p>
          <a:p>
            <a:pPr lvl="1"/>
            <a:r>
              <a:rPr lang="en-US" altLang="zh-TW" dirty="0">
                <a:solidFill>
                  <a:schemeClr val="bg2">
                    <a:lumMod val="75000"/>
                  </a:schemeClr>
                </a:solidFill>
              </a:rPr>
              <a:t>To eliminate the overhead of heap allocation.</a:t>
            </a:r>
          </a:p>
          <a:p>
            <a:r>
              <a:rPr lang="en-US" altLang="zh-TW" dirty="0"/>
              <a:t>Hard to ensure that people will use the correct type in large repo.</a:t>
            </a:r>
          </a:p>
          <a:p>
            <a:r>
              <a:rPr lang="en-US" altLang="zh-TW" dirty="0"/>
              <a:t>For “global memory pool”</a:t>
            </a:r>
          </a:p>
          <a:p>
            <a:pPr lvl="1"/>
            <a:r>
              <a:rPr lang="en-US" altLang="zh-TW" dirty="0"/>
              <a:t>You typically want 3rd-party lib to be managed by your pool.</a:t>
            </a:r>
          </a:p>
          <a:p>
            <a:pPr lvl="1"/>
            <a:r>
              <a:rPr lang="en-US" altLang="zh-TW" dirty="0"/>
              <a:t>Allocator &amp; PMR can't really solve the problem in this scenarios.</a:t>
            </a:r>
          </a:p>
          <a:p>
            <a:pPr lvl="1"/>
            <a:r>
              <a:rPr lang="en-US" altLang="zh-TW" dirty="0"/>
              <a:t>Thus you still need to replace functions like malloc, </a:t>
            </a:r>
            <a:r>
              <a:rPr lang="en-US" altLang="zh-TW" dirty="0" err="1"/>
              <a:t>alloc</a:t>
            </a:r>
            <a:r>
              <a:rPr lang="en-US" altLang="zh-TW" dirty="0"/>
              <a:t>, or </a:t>
            </a:r>
            <a:r>
              <a:rPr lang="en-US" altLang="zh-TW" dirty="0" err="1"/>
              <a:t>realloc</a:t>
            </a:r>
            <a:r>
              <a:rPr lang="en-US" altLang="zh-TW" dirty="0"/>
              <a:t>.</a:t>
            </a:r>
          </a:p>
          <a:p>
            <a:pPr lvl="2"/>
            <a:r>
              <a:rPr lang="en-US" altLang="zh-TW" dirty="0"/>
              <a:t>Like </a:t>
            </a:r>
            <a:r>
              <a:rPr lang="en-US" altLang="zh-TW" dirty="0">
                <a:hlinkClick r:id="rId2"/>
              </a:rPr>
              <a:t>jemalloc</a:t>
            </a:r>
            <a:r>
              <a:rPr lang="en-US" altLang="zh-TW" dirty="0"/>
              <a:t> just override it</a:t>
            </a:r>
          </a:p>
        </p:txBody>
      </p:sp>
    </p:spTree>
    <p:extLst>
      <p:ext uri="{BB962C8B-B14F-4D97-AF65-F5344CB8AC3E}">
        <p14:creationId xmlns:p14="http://schemas.microsoft.com/office/powerpoint/2010/main" val="846478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Aside</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p:txBody>
          <a:bodyPr>
            <a:normAutofit lnSpcReduction="10000"/>
          </a:bodyPr>
          <a:lstStyle/>
          <a:p>
            <a:r>
              <a:rPr lang="en-US" altLang="zh-TW" b="0" i="0" dirty="0">
                <a:solidFill>
                  <a:schemeClr val="bg2">
                    <a:lumMod val="75000"/>
                  </a:schemeClr>
                </a:solidFill>
                <a:effectLst/>
                <a:latin typeface="Inter"/>
              </a:rPr>
              <a:t>MISRA C/C++ spec prohibit heap allocation </a:t>
            </a:r>
            <a:r>
              <a:rPr lang="en-US" altLang="zh-TW" sz="1400" b="0" i="0" dirty="0">
                <a:solidFill>
                  <a:schemeClr val="bg2">
                    <a:lumMod val="75000"/>
                  </a:schemeClr>
                </a:solidFill>
                <a:effectLst/>
                <a:latin typeface="Inter"/>
              </a:rPr>
              <a:t>(heard from my friend)</a:t>
            </a:r>
          </a:p>
          <a:p>
            <a:r>
              <a:rPr lang="en-US" altLang="zh-TW" b="0" i="0" dirty="0">
                <a:solidFill>
                  <a:schemeClr val="bg2">
                    <a:lumMod val="75000"/>
                  </a:schemeClr>
                </a:solidFill>
                <a:effectLst/>
                <a:latin typeface="Inter"/>
              </a:rPr>
              <a:t>Due to historical issues, things are a bit messy</a:t>
            </a:r>
            <a:endParaRPr lang="en-US" altLang="zh-TW" dirty="0">
              <a:solidFill>
                <a:schemeClr val="bg2">
                  <a:lumMod val="75000"/>
                </a:schemeClr>
              </a:solidFill>
            </a:endParaRPr>
          </a:p>
          <a:p>
            <a:r>
              <a:rPr lang="en-US" altLang="zh-TW" dirty="0">
                <a:solidFill>
                  <a:schemeClr val="bg2">
                    <a:lumMod val="75000"/>
                  </a:schemeClr>
                </a:solidFill>
              </a:rPr>
              <a:t>Allocator &amp; PMR is typically used with STL containers.</a:t>
            </a:r>
          </a:p>
          <a:p>
            <a:pPr lvl="1"/>
            <a:r>
              <a:rPr lang="en-US" altLang="zh-TW" dirty="0">
                <a:solidFill>
                  <a:schemeClr val="bg2">
                    <a:lumMod val="75000"/>
                  </a:schemeClr>
                </a:solidFill>
              </a:rPr>
              <a:t>To eliminate the overhead of heap allocation.</a:t>
            </a:r>
          </a:p>
          <a:p>
            <a:r>
              <a:rPr lang="en-US" altLang="zh-TW" dirty="0"/>
              <a:t>Hard to ensure that people will use the correct type in large repo.</a:t>
            </a:r>
          </a:p>
          <a:p>
            <a:r>
              <a:rPr lang="en-US" altLang="zh-TW" dirty="0"/>
              <a:t>For “global memory pool”</a:t>
            </a:r>
          </a:p>
          <a:p>
            <a:pPr lvl="1"/>
            <a:r>
              <a:rPr lang="en-US" altLang="zh-TW" dirty="0"/>
              <a:t>You typically want 3rd-party lib to be managed by your pool.</a:t>
            </a:r>
          </a:p>
          <a:p>
            <a:pPr lvl="1"/>
            <a:r>
              <a:rPr lang="en-US" altLang="zh-TW" dirty="0"/>
              <a:t>Allocator &amp; PMR can't really solve the problem in this scenarios.</a:t>
            </a:r>
          </a:p>
          <a:p>
            <a:pPr lvl="1"/>
            <a:r>
              <a:rPr lang="en-US" altLang="zh-TW" dirty="0"/>
              <a:t>Thus you still need to replace functions like malloc, </a:t>
            </a:r>
            <a:r>
              <a:rPr lang="en-US" altLang="zh-TW" dirty="0" err="1"/>
              <a:t>alloc</a:t>
            </a:r>
            <a:r>
              <a:rPr lang="en-US" altLang="zh-TW" dirty="0"/>
              <a:t>, or </a:t>
            </a:r>
            <a:r>
              <a:rPr lang="en-US" altLang="zh-TW" dirty="0" err="1"/>
              <a:t>realloc</a:t>
            </a:r>
            <a:r>
              <a:rPr lang="en-US" altLang="zh-TW" dirty="0"/>
              <a:t>.</a:t>
            </a:r>
          </a:p>
          <a:p>
            <a:pPr lvl="2"/>
            <a:r>
              <a:rPr lang="en-US" altLang="zh-TW" dirty="0"/>
              <a:t>Like </a:t>
            </a:r>
            <a:r>
              <a:rPr lang="en-US" altLang="zh-TW" dirty="0">
                <a:hlinkClick r:id="rId2"/>
              </a:rPr>
              <a:t>jemalloc</a:t>
            </a:r>
            <a:r>
              <a:rPr lang="en-US" altLang="zh-TW" dirty="0"/>
              <a:t> just override it</a:t>
            </a:r>
          </a:p>
        </p:txBody>
      </p:sp>
      <p:pic>
        <p:nvPicPr>
          <p:cNvPr id="4" name="圖片 3">
            <a:extLst>
              <a:ext uri="{FF2B5EF4-FFF2-40B4-BE49-F238E27FC236}">
                <a16:creationId xmlns:a16="http://schemas.microsoft.com/office/drawing/2014/main" id="{98869171-F7D6-1D4A-C4CC-141F993D7F26}"/>
              </a:ext>
            </a:extLst>
          </p:cNvPr>
          <p:cNvPicPr>
            <a:picLocks noChangeAspect="1"/>
          </p:cNvPicPr>
          <p:nvPr/>
        </p:nvPicPr>
        <p:blipFill>
          <a:blip r:embed="rId3"/>
          <a:stretch>
            <a:fillRect/>
          </a:stretch>
        </p:blipFill>
        <p:spPr>
          <a:xfrm>
            <a:off x="5393266" y="340809"/>
            <a:ext cx="6252633" cy="6176382"/>
          </a:xfrm>
          <a:prstGeom prst="rect">
            <a:avLst/>
          </a:prstGeom>
        </p:spPr>
      </p:pic>
    </p:spTree>
    <p:extLst>
      <p:ext uri="{BB962C8B-B14F-4D97-AF65-F5344CB8AC3E}">
        <p14:creationId xmlns:p14="http://schemas.microsoft.com/office/powerpoint/2010/main" val="4122255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Allocator &amp; PMR</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a:xfrm>
            <a:off x="838200" y="1825624"/>
            <a:ext cx="10515600" cy="5032375"/>
          </a:xfrm>
        </p:spPr>
        <p:txBody>
          <a:bodyPr>
            <a:normAutofit/>
          </a:bodyPr>
          <a:lstStyle/>
          <a:p>
            <a:r>
              <a:rPr lang="en-US" altLang="zh-TW" dirty="0"/>
              <a:t>Brief History</a:t>
            </a:r>
          </a:p>
          <a:p>
            <a:r>
              <a:rPr lang="en-US" altLang="zh-TW" dirty="0">
                <a:solidFill>
                  <a:schemeClr val="bg2">
                    <a:lumMod val="75000"/>
                  </a:schemeClr>
                </a:solidFill>
              </a:rPr>
              <a:t>Allocator usage</a:t>
            </a:r>
          </a:p>
          <a:p>
            <a:pPr lvl="1"/>
            <a:r>
              <a:rPr lang="en-US" altLang="zh-TW" dirty="0">
                <a:solidFill>
                  <a:schemeClr val="bg2">
                    <a:lumMod val="75000"/>
                  </a:schemeClr>
                </a:solidFill>
              </a:rPr>
              <a:t>What is allocator?</a:t>
            </a:r>
          </a:p>
          <a:p>
            <a:pPr lvl="1"/>
            <a:r>
              <a:rPr lang="en-US" altLang="zh-TW" dirty="0">
                <a:solidFill>
                  <a:schemeClr val="bg2">
                    <a:lumMod val="75000"/>
                  </a:schemeClr>
                </a:solidFill>
              </a:rPr>
              <a:t>Custom allocator</a:t>
            </a:r>
          </a:p>
          <a:p>
            <a:r>
              <a:rPr lang="en-US" altLang="zh-TW" dirty="0">
                <a:solidFill>
                  <a:schemeClr val="bg2">
                    <a:lumMod val="75000"/>
                  </a:schemeClr>
                </a:solidFill>
              </a:rPr>
              <a:t>PMR </a:t>
            </a:r>
          </a:p>
          <a:p>
            <a:pPr lvl="1"/>
            <a:r>
              <a:rPr lang="en-US" altLang="zh-TW" dirty="0">
                <a:solidFill>
                  <a:schemeClr val="bg2">
                    <a:lumMod val="75000"/>
                  </a:schemeClr>
                </a:solidFill>
              </a:rPr>
              <a:t>What &amp; why PMR</a:t>
            </a:r>
          </a:p>
          <a:p>
            <a:pPr lvl="1"/>
            <a:r>
              <a:rPr lang="en-US" altLang="zh-TW" dirty="0">
                <a:solidFill>
                  <a:schemeClr val="bg2">
                    <a:lumMod val="75000"/>
                  </a:schemeClr>
                </a:solidFill>
              </a:rPr>
              <a:t>PMR usage</a:t>
            </a:r>
          </a:p>
          <a:p>
            <a:pPr lvl="1"/>
            <a:r>
              <a:rPr lang="en-US" altLang="zh-TW" dirty="0">
                <a:solidFill>
                  <a:schemeClr val="bg2">
                    <a:lumMod val="75000"/>
                  </a:schemeClr>
                </a:solidFill>
              </a:rPr>
              <a:t>Custom '</a:t>
            </a:r>
            <a:r>
              <a:rPr lang="en-US" altLang="zh-TW" dirty="0" err="1">
                <a:solidFill>
                  <a:schemeClr val="bg2">
                    <a:lumMod val="75000"/>
                  </a:schemeClr>
                </a:solidFill>
              </a:rPr>
              <a:t>memory_resource</a:t>
            </a:r>
            <a:r>
              <a:rPr lang="en-US" altLang="zh-TW" dirty="0">
                <a:solidFill>
                  <a:schemeClr val="bg2">
                    <a:lumMod val="75000"/>
                  </a:schemeClr>
                </a:solidFill>
              </a:rPr>
              <a:t>'</a:t>
            </a:r>
          </a:p>
          <a:p>
            <a:r>
              <a:rPr lang="en-US" altLang="zh-TW" dirty="0">
                <a:solidFill>
                  <a:schemeClr val="bg2">
                    <a:lumMod val="75000"/>
                  </a:schemeClr>
                </a:solidFill>
              </a:rPr>
              <a:t>Allocator/PMR for user defined class</a:t>
            </a:r>
          </a:p>
          <a:p>
            <a:pPr lvl="1"/>
            <a:r>
              <a:rPr lang="en-US" altLang="zh-TW" dirty="0">
                <a:solidFill>
                  <a:schemeClr val="bg2">
                    <a:lumMod val="75000"/>
                  </a:schemeClr>
                </a:solidFill>
              </a:rPr>
              <a:t>std::</a:t>
            </a:r>
            <a:r>
              <a:rPr lang="en-US" altLang="zh-TW" dirty="0" err="1">
                <a:solidFill>
                  <a:schemeClr val="bg2">
                    <a:lumMod val="75000"/>
                  </a:schemeClr>
                </a:solidFill>
              </a:rPr>
              <a:t>use_allocator_v</a:t>
            </a:r>
            <a:endParaRPr lang="en-US" altLang="zh-TW" dirty="0">
              <a:solidFill>
                <a:schemeClr val="bg2">
                  <a:lumMod val="75000"/>
                </a:schemeClr>
              </a:solidFill>
            </a:endParaRPr>
          </a:p>
          <a:p>
            <a:pPr lvl="1"/>
            <a:r>
              <a:rPr lang="en-US" altLang="zh-TW" dirty="0">
                <a:solidFill>
                  <a:schemeClr val="bg2">
                    <a:lumMod val="75000"/>
                  </a:schemeClr>
                </a:solidFill>
              </a:rPr>
              <a:t>Uses-allocator construction</a:t>
            </a:r>
          </a:p>
          <a:p>
            <a:pPr lvl="1"/>
            <a:endParaRPr lang="zh-TW" altLang="en-US" dirty="0"/>
          </a:p>
        </p:txBody>
      </p:sp>
    </p:spTree>
    <p:extLst>
      <p:ext uri="{BB962C8B-B14F-4D97-AF65-F5344CB8AC3E}">
        <p14:creationId xmlns:p14="http://schemas.microsoft.com/office/powerpoint/2010/main" val="3050151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Brief History: placement new</a:t>
            </a:r>
            <a:endParaRPr lang="zh-TW" altLang="en-US" dirty="0"/>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t>For some simple structure</a:t>
            </a:r>
            <a:r>
              <a:rPr lang="en-US" altLang="zh-TW" sz="1600" dirty="0"/>
              <a:t>(like POD type), </a:t>
            </a:r>
            <a:r>
              <a:rPr lang="en-US" altLang="zh-TW" dirty="0"/>
              <a:t>we can use placement new</a:t>
            </a:r>
          </a:p>
          <a:p>
            <a:r>
              <a:rPr lang="en-US" altLang="zh-TW" dirty="0"/>
              <a:t>Several issues:</a:t>
            </a:r>
          </a:p>
          <a:p>
            <a:pPr lvl="1"/>
            <a:r>
              <a:rPr lang="en-US" altLang="zh-TW" dirty="0"/>
              <a:t>Inconvenient to use with STL containers.</a:t>
            </a:r>
          </a:p>
          <a:p>
            <a:pPr lvl="1"/>
            <a:r>
              <a:rPr lang="en-US" altLang="zh-TW" dirty="0">
                <a:highlight>
                  <a:srgbClr val="FFFF00"/>
                </a:highlight>
              </a:rPr>
              <a:t>Can't separate memory allocation and object construction.</a:t>
            </a:r>
          </a:p>
          <a:p>
            <a:pPr lvl="1"/>
            <a:r>
              <a:rPr lang="en-US" altLang="zh-TW" dirty="0"/>
              <a:t>Need to manual handling issues like alignment.</a:t>
            </a:r>
          </a:p>
          <a:p>
            <a:pPr lvl="1"/>
            <a:r>
              <a:rPr lang="en-US" altLang="zh-TW" dirty="0" err="1">
                <a:hlinkClick r:id="rId2"/>
              </a:rPr>
              <a:t>godbolt</a:t>
            </a:r>
            <a:r>
              <a:rPr lang="en-US" altLang="zh-TW" dirty="0">
                <a:hlinkClick r:id="rId2"/>
              </a:rPr>
              <a:t> example</a:t>
            </a:r>
            <a:endParaRPr lang="zh-TW" altLang="en-US" dirty="0"/>
          </a:p>
        </p:txBody>
      </p:sp>
    </p:spTree>
    <p:extLst>
      <p:ext uri="{BB962C8B-B14F-4D97-AF65-F5344CB8AC3E}">
        <p14:creationId xmlns:p14="http://schemas.microsoft.com/office/powerpoint/2010/main" val="1690637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Brief History: Allocator</a:t>
            </a:r>
            <a:endParaRPr lang="zh-TW" altLang="en-US" dirty="0"/>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t>From Alexander Stepanov:</a:t>
            </a:r>
          </a:p>
          <a:p>
            <a:pPr marL="457200" lvl="1" indent="0">
              <a:buNone/>
            </a:pPr>
            <a:r>
              <a:rPr lang="en-US" altLang="zh-TW" b="0" i="0" dirty="0">
                <a:solidFill>
                  <a:schemeClr val="tx1">
                    <a:lumMod val="65000"/>
                    <a:lumOff val="35000"/>
                  </a:schemeClr>
                </a:solidFill>
                <a:effectLst/>
                <a:latin typeface="Inter"/>
              </a:rPr>
              <a:t>People wanted the library to provide some mechanism for abstracting memory models.</a:t>
            </a:r>
          </a:p>
          <a:p>
            <a:r>
              <a:rPr lang="en-US" altLang="zh-TW" b="0" i="0" dirty="0">
                <a:effectLst/>
                <a:latin typeface="Inter"/>
              </a:rPr>
              <a:t>Make STL containers independent with memory model.</a:t>
            </a:r>
          </a:p>
          <a:p>
            <a:r>
              <a:rPr lang="en-US" altLang="zh-TW" dirty="0">
                <a:latin typeface="Inter"/>
              </a:rPr>
              <a:t>Tried to make Allocator to fully encapsulate the memory model.</a:t>
            </a:r>
          </a:p>
          <a:p>
            <a:pPr lvl="1"/>
            <a:r>
              <a:rPr lang="en-US" altLang="zh-TW" b="0" i="0" dirty="0">
                <a:effectLst/>
                <a:latin typeface="Inter"/>
              </a:rPr>
              <a:t>But failed due to efficien</a:t>
            </a:r>
            <a:r>
              <a:rPr lang="en-US" altLang="zh-TW" dirty="0">
                <a:latin typeface="Inter"/>
              </a:rPr>
              <a:t>cy.</a:t>
            </a:r>
          </a:p>
          <a:p>
            <a:r>
              <a:rPr lang="en-US" altLang="zh-TW" dirty="0">
                <a:latin typeface="Inter"/>
                <a:hlinkClick r:id="rId2"/>
              </a:rPr>
              <a:t>Interview with Al Stevens translated by </a:t>
            </a:r>
            <a:r>
              <a:rPr lang="zh-TW" altLang="en-US" dirty="0">
                <a:latin typeface="Inter"/>
                <a:hlinkClick r:id="rId2"/>
              </a:rPr>
              <a:t>侯捷</a:t>
            </a:r>
            <a:endParaRPr lang="en-US" altLang="zh-TW" dirty="0">
              <a:latin typeface="Inter"/>
            </a:endParaRPr>
          </a:p>
        </p:txBody>
      </p:sp>
    </p:spTree>
    <p:extLst>
      <p:ext uri="{BB962C8B-B14F-4D97-AF65-F5344CB8AC3E}">
        <p14:creationId xmlns:p14="http://schemas.microsoft.com/office/powerpoint/2010/main" val="3070470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Allocator &amp; PMR</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a:xfrm>
            <a:off x="838200" y="1825624"/>
            <a:ext cx="10515600" cy="5032375"/>
          </a:xfrm>
        </p:spPr>
        <p:txBody>
          <a:bodyPr>
            <a:normAutofit/>
          </a:bodyPr>
          <a:lstStyle/>
          <a:p>
            <a:r>
              <a:rPr lang="en-US" altLang="zh-TW" dirty="0">
                <a:solidFill>
                  <a:schemeClr val="bg2">
                    <a:lumMod val="75000"/>
                  </a:schemeClr>
                </a:solidFill>
              </a:rPr>
              <a:t>Brief History</a:t>
            </a:r>
          </a:p>
          <a:p>
            <a:r>
              <a:rPr lang="en-US" altLang="zh-TW" dirty="0"/>
              <a:t>Allocator usage</a:t>
            </a:r>
          </a:p>
          <a:p>
            <a:pPr lvl="1"/>
            <a:r>
              <a:rPr lang="en-US" altLang="zh-TW" dirty="0"/>
              <a:t>What is allocator?</a:t>
            </a:r>
          </a:p>
          <a:p>
            <a:pPr lvl="1"/>
            <a:r>
              <a:rPr lang="en-US" altLang="zh-TW" dirty="0"/>
              <a:t>Custom allocator</a:t>
            </a:r>
          </a:p>
          <a:p>
            <a:r>
              <a:rPr lang="en-US" altLang="zh-TW" dirty="0">
                <a:solidFill>
                  <a:schemeClr val="bg2">
                    <a:lumMod val="75000"/>
                  </a:schemeClr>
                </a:solidFill>
              </a:rPr>
              <a:t>PMR </a:t>
            </a:r>
          </a:p>
          <a:p>
            <a:pPr lvl="1"/>
            <a:r>
              <a:rPr lang="en-US" altLang="zh-TW" dirty="0">
                <a:solidFill>
                  <a:schemeClr val="bg2">
                    <a:lumMod val="75000"/>
                  </a:schemeClr>
                </a:solidFill>
              </a:rPr>
              <a:t>What &amp; why PMR</a:t>
            </a:r>
          </a:p>
          <a:p>
            <a:pPr lvl="1"/>
            <a:r>
              <a:rPr lang="en-US" altLang="zh-TW" dirty="0">
                <a:solidFill>
                  <a:schemeClr val="bg2">
                    <a:lumMod val="75000"/>
                  </a:schemeClr>
                </a:solidFill>
              </a:rPr>
              <a:t>PMR usage</a:t>
            </a:r>
          </a:p>
          <a:p>
            <a:pPr lvl="1"/>
            <a:r>
              <a:rPr lang="en-US" altLang="zh-TW" dirty="0">
                <a:solidFill>
                  <a:schemeClr val="bg2">
                    <a:lumMod val="75000"/>
                  </a:schemeClr>
                </a:solidFill>
              </a:rPr>
              <a:t>Custom '</a:t>
            </a:r>
            <a:r>
              <a:rPr lang="en-US" altLang="zh-TW" dirty="0" err="1">
                <a:solidFill>
                  <a:schemeClr val="bg2">
                    <a:lumMod val="75000"/>
                  </a:schemeClr>
                </a:solidFill>
              </a:rPr>
              <a:t>memory_resource</a:t>
            </a:r>
            <a:r>
              <a:rPr lang="en-US" altLang="zh-TW" dirty="0">
                <a:solidFill>
                  <a:schemeClr val="bg2">
                    <a:lumMod val="75000"/>
                  </a:schemeClr>
                </a:solidFill>
              </a:rPr>
              <a:t>'</a:t>
            </a:r>
          </a:p>
          <a:p>
            <a:r>
              <a:rPr lang="en-US" altLang="zh-TW" dirty="0">
                <a:solidFill>
                  <a:schemeClr val="bg2">
                    <a:lumMod val="75000"/>
                  </a:schemeClr>
                </a:solidFill>
              </a:rPr>
              <a:t>Allocator/PMR for user defined class</a:t>
            </a:r>
          </a:p>
          <a:p>
            <a:pPr lvl="1"/>
            <a:r>
              <a:rPr lang="en-US" altLang="zh-TW" dirty="0">
                <a:solidFill>
                  <a:schemeClr val="bg2">
                    <a:lumMod val="75000"/>
                  </a:schemeClr>
                </a:solidFill>
              </a:rPr>
              <a:t>std::</a:t>
            </a:r>
            <a:r>
              <a:rPr lang="en-US" altLang="zh-TW" dirty="0" err="1">
                <a:solidFill>
                  <a:schemeClr val="bg2">
                    <a:lumMod val="75000"/>
                  </a:schemeClr>
                </a:solidFill>
              </a:rPr>
              <a:t>use_allocator_v</a:t>
            </a:r>
            <a:endParaRPr lang="en-US" altLang="zh-TW" dirty="0">
              <a:solidFill>
                <a:schemeClr val="bg2">
                  <a:lumMod val="75000"/>
                </a:schemeClr>
              </a:solidFill>
            </a:endParaRPr>
          </a:p>
          <a:p>
            <a:pPr lvl="1"/>
            <a:r>
              <a:rPr lang="en-US" altLang="zh-TW" dirty="0">
                <a:solidFill>
                  <a:schemeClr val="bg2">
                    <a:lumMod val="75000"/>
                  </a:schemeClr>
                </a:solidFill>
              </a:rPr>
              <a:t>Uses-allocator construction</a:t>
            </a:r>
          </a:p>
          <a:p>
            <a:pPr lvl="1"/>
            <a:endParaRPr lang="zh-TW" altLang="en-US" dirty="0"/>
          </a:p>
        </p:txBody>
      </p:sp>
    </p:spTree>
    <p:extLst>
      <p:ext uri="{BB962C8B-B14F-4D97-AF65-F5344CB8AC3E}">
        <p14:creationId xmlns:p14="http://schemas.microsoft.com/office/powerpoint/2010/main" val="4175506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 what &amp; why?</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t>STL container use allocator to allocate memory</a:t>
            </a:r>
          </a:p>
          <a:p>
            <a:pPr lvl="1"/>
            <a:r>
              <a:rPr lang="en-US" altLang="zh-TW" sz="2000" b="0" i="0" u="none" strike="noStrike" dirty="0">
                <a:solidFill>
                  <a:srgbClr val="2388F6"/>
                </a:solidFill>
                <a:effectLst/>
                <a:latin typeface="Inter"/>
                <a:hlinkClick r:id="rId2"/>
              </a:rPr>
              <a:t>N4950</a:t>
            </a:r>
            <a:r>
              <a:rPr lang="zh-TW" altLang="en-US" sz="2000" b="0" i="0" u="none" strike="noStrike" dirty="0">
                <a:solidFill>
                  <a:srgbClr val="2388F6"/>
                </a:solidFill>
                <a:effectLst/>
                <a:latin typeface="Inter"/>
                <a:hlinkClick r:id="rId2"/>
              </a:rPr>
              <a:t>（</a:t>
            </a:r>
            <a:r>
              <a:rPr lang="en-US" altLang="zh-TW" sz="2000" b="0" i="0" u="none" strike="noStrike" dirty="0">
                <a:solidFill>
                  <a:srgbClr val="2388F6"/>
                </a:solidFill>
                <a:effectLst/>
                <a:latin typeface="Inter"/>
                <a:hlinkClick r:id="rId2"/>
              </a:rPr>
              <a:t>24.2.2.2-64</a:t>
            </a:r>
            <a:r>
              <a:rPr lang="zh-TW" altLang="en-US" sz="2000" b="0" i="0" u="none" strike="noStrike" dirty="0">
                <a:solidFill>
                  <a:srgbClr val="2388F6"/>
                </a:solidFill>
                <a:effectLst/>
                <a:latin typeface="Inter"/>
                <a:hlinkClick r:id="rId2"/>
              </a:rPr>
              <a:t>）</a:t>
            </a:r>
            <a:r>
              <a:rPr lang="zh-TW" altLang="en-US" sz="2000" b="0" i="0" dirty="0">
                <a:solidFill>
                  <a:schemeClr val="tx1">
                    <a:lumMod val="65000"/>
                    <a:lumOff val="35000"/>
                  </a:schemeClr>
                </a:solidFill>
                <a:effectLst/>
                <a:latin typeface="Inter"/>
              </a:rPr>
              <a:t>：</a:t>
            </a:r>
            <a:r>
              <a:rPr lang="en-US" altLang="zh-TW" sz="2000" b="0" i="0" dirty="0">
                <a:solidFill>
                  <a:schemeClr val="tx1">
                    <a:lumMod val="85000"/>
                    <a:lumOff val="15000"/>
                  </a:schemeClr>
                </a:solidFill>
                <a:effectLst/>
                <a:latin typeface="Inter"/>
              </a:rPr>
              <a:t>Unless otherwise specified, all containers defined in this Clause obtain memory using an allocator</a:t>
            </a:r>
          </a:p>
          <a:p>
            <a:pPr lvl="1"/>
            <a:r>
              <a:rPr lang="en-US" altLang="zh-TW" sz="2000" b="0" i="0" u="none" strike="noStrike" dirty="0">
                <a:solidFill>
                  <a:srgbClr val="2388F6"/>
                </a:solidFill>
                <a:effectLst/>
                <a:latin typeface="Inter"/>
                <a:hlinkClick r:id="rId3"/>
              </a:rPr>
              <a:t>N4950</a:t>
            </a:r>
            <a:r>
              <a:rPr lang="zh-TW" altLang="en-US" sz="2000" b="0" i="0" u="none" strike="noStrike" dirty="0">
                <a:solidFill>
                  <a:srgbClr val="2388F6"/>
                </a:solidFill>
                <a:effectLst/>
                <a:latin typeface="Inter"/>
                <a:hlinkClick r:id="rId3"/>
              </a:rPr>
              <a:t>（</a:t>
            </a:r>
            <a:r>
              <a:rPr lang="en-US" altLang="zh-TW" sz="2000" b="0" i="0" u="none" strike="noStrike" dirty="0">
                <a:solidFill>
                  <a:srgbClr val="2388F6"/>
                </a:solidFill>
                <a:effectLst/>
                <a:latin typeface="Inter"/>
                <a:hlinkClick r:id="rId3"/>
              </a:rPr>
              <a:t>24.2.2.5-2</a:t>
            </a:r>
            <a:r>
              <a:rPr lang="zh-TW" altLang="en-US" sz="2000" b="0" i="0" u="none" strike="noStrike" dirty="0">
                <a:solidFill>
                  <a:srgbClr val="2388F6"/>
                </a:solidFill>
                <a:effectLst/>
                <a:latin typeface="Inter"/>
                <a:hlinkClick r:id="rId3"/>
              </a:rPr>
              <a:t>）</a:t>
            </a:r>
            <a:r>
              <a:rPr lang="zh-TW" altLang="en-US" sz="2000" b="0" i="0" dirty="0">
                <a:solidFill>
                  <a:schemeClr val="tx1">
                    <a:lumMod val="65000"/>
                    <a:lumOff val="35000"/>
                  </a:schemeClr>
                </a:solidFill>
                <a:effectLst/>
                <a:latin typeface="Inter"/>
              </a:rPr>
              <a:t>：</a:t>
            </a:r>
            <a:r>
              <a:rPr lang="en-US" altLang="zh-TW" sz="2000" b="0" i="0" dirty="0">
                <a:solidFill>
                  <a:schemeClr val="tx1">
                    <a:lumMod val="85000"/>
                    <a:lumOff val="15000"/>
                  </a:schemeClr>
                </a:solidFill>
                <a:effectLst/>
                <a:latin typeface="Inter"/>
              </a:rPr>
              <a:t>A container calls '</a:t>
            </a:r>
            <a:r>
              <a:rPr lang="en-US" altLang="zh-TW" sz="2000" b="0" i="0" dirty="0" err="1">
                <a:solidFill>
                  <a:schemeClr val="tx1">
                    <a:lumMod val="85000"/>
                    <a:lumOff val="15000"/>
                  </a:schemeClr>
                </a:solidFill>
                <a:effectLst/>
                <a:latin typeface="Inter"/>
              </a:rPr>
              <a:t>allocator_traits</a:t>
            </a:r>
            <a:r>
              <a:rPr lang="en-US" altLang="zh-TW" sz="2000" b="0" i="0" dirty="0">
                <a:solidFill>
                  <a:schemeClr val="tx1">
                    <a:lumMod val="85000"/>
                    <a:lumOff val="15000"/>
                  </a:schemeClr>
                </a:solidFill>
                <a:effectLst/>
                <a:latin typeface="Inter"/>
              </a:rPr>
              <a:t>&lt;A&gt;​::​construct(m, p, </a:t>
            </a:r>
            <a:r>
              <a:rPr lang="en-US" altLang="zh-TW" sz="2000" b="0" i="0" dirty="0" err="1">
                <a:solidFill>
                  <a:schemeClr val="tx1">
                    <a:lumMod val="85000"/>
                    <a:lumOff val="15000"/>
                  </a:schemeClr>
                </a:solidFill>
                <a:effectLst/>
                <a:latin typeface="Inter"/>
              </a:rPr>
              <a:t>args</a:t>
            </a:r>
            <a:r>
              <a:rPr lang="en-US" altLang="zh-TW" sz="2000" b="0" i="0" dirty="0">
                <a:solidFill>
                  <a:schemeClr val="tx1">
                    <a:lumMod val="85000"/>
                    <a:lumOff val="15000"/>
                  </a:schemeClr>
                </a:solidFill>
                <a:effectLst/>
                <a:latin typeface="Inter"/>
              </a:rPr>
              <a:t>)' to construct an element at 'p' using '</a:t>
            </a:r>
            <a:r>
              <a:rPr lang="en-US" altLang="zh-TW" sz="2000" b="0" i="0" dirty="0" err="1">
                <a:solidFill>
                  <a:schemeClr val="tx1">
                    <a:lumMod val="85000"/>
                    <a:lumOff val="15000"/>
                  </a:schemeClr>
                </a:solidFill>
                <a:effectLst/>
                <a:latin typeface="Inter"/>
              </a:rPr>
              <a:t>args</a:t>
            </a:r>
            <a:r>
              <a:rPr lang="en-US" altLang="zh-TW" sz="2000" b="0" i="0" dirty="0">
                <a:solidFill>
                  <a:schemeClr val="tx1">
                    <a:lumMod val="85000"/>
                    <a:lumOff val="15000"/>
                  </a:schemeClr>
                </a:solidFill>
                <a:effectLst/>
                <a:latin typeface="Inter"/>
              </a:rPr>
              <a:t>', with 'm == </a:t>
            </a:r>
            <a:r>
              <a:rPr lang="en-US" altLang="zh-TW" sz="2000" b="0" i="0" dirty="0" err="1">
                <a:solidFill>
                  <a:schemeClr val="tx1">
                    <a:lumMod val="85000"/>
                    <a:lumOff val="15000"/>
                  </a:schemeClr>
                </a:solidFill>
                <a:effectLst/>
                <a:latin typeface="Inter"/>
              </a:rPr>
              <a:t>get_allocator</a:t>
            </a:r>
            <a:r>
              <a:rPr lang="en-US" altLang="zh-TW" sz="2000" b="0" i="0" dirty="0">
                <a:solidFill>
                  <a:schemeClr val="tx1">
                    <a:lumMod val="85000"/>
                    <a:lumOff val="15000"/>
                  </a:schemeClr>
                </a:solidFill>
                <a:effectLst/>
                <a:latin typeface="Inter"/>
              </a:rPr>
              <a:t>()'</a:t>
            </a:r>
          </a:p>
          <a:p>
            <a:r>
              <a:rPr lang="en-US" altLang="zh-TW" b="0" i="0" dirty="0">
                <a:solidFill>
                  <a:schemeClr val="bg2">
                    <a:lumMod val="75000"/>
                  </a:schemeClr>
                </a:solidFill>
                <a:effectLst/>
                <a:latin typeface="Inter"/>
              </a:rPr>
              <a:t>The standard provides very detailed procedural specifications for this part.</a:t>
            </a:r>
          </a:p>
          <a:p>
            <a:pPr lvl="1"/>
            <a:r>
              <a:rPr lang="en-US" altLang="zh-TW" dirty="0">
                <a:solidFill>
                  <a:schemeClr val="bg2">
                    <a:lumMod val="75000"/>
                  </a:schemeClr>
                </a:solidFill>
                <a:latin typeface="Inter"/>
              </a:rPr>
              <a:t>We will see it later</a:t>
            </a:r>
          </a:p>
          <a:p>
            <a:r>
              <a:rPr lang="en-US" altLang="zh-TW" dirty="0">
                <a:solidFill>
                  <a:schemeClr val="bg2">
                    <a:lumMod val="75000"/>
                  </a:schemeClr>
                </a:solidFill>
                <a:latin typeface="Inter"/>
              </a:rPr>
              <a:t>Can split memory allocation and object construct.</a:t>
            </a:r>
          </a:p>
        </p:txBody>
      </p:sp>
    </p:spTree>
    <p:extLst>
      <p:ext uri="{BB962C8B-B14F-4D97-AF65-F5344CB8AC3E}">
        <p14:creationId xmlns:p14="http://schemas.microsoft.com/office/powerpoint/2010/main" val="247531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a:extLst>
              <a:ext uri="{FF2B5EF4-FFF2-40B4-BE49-F238E27FC236}">
                <a16:creationId xmlns:a16="http://schemas.microsoft.com/office/drawing/2014/main" id="{1418C487-BF67-FC7A-96C0-EA9202419DDF}"/>
              </a:ext>
            </a:extLst>
          </p:cNvPr>
          <p:cNvPicPr>
            <a:picLocks noChangeAspect="1"/>
          </p:cNvPicPr>
          <p:nvPr/>
        </p:nvPicPr>
        <p:blipFill>
          <a:blip r:embed="rId2"/>
          <a:stretch>
            <a:fillRect/>
          </a:stretch>
        </p:blipFill>
        <p:spPr>
          <a:xfrm>
            <a:off x="801410" y="1315081"/>
            <a:ext cx="6019882" cy="4146550"/>
          </a:xfrm>
          <a:prstGeom prst="rect">
            <a:avLst/>
          </a:prstGeom>
        </p:spPr>
      </p:pic>
      <p:pic>
        <p:nvPicPr>
          <p:cNvPr id="2050" name="Picture 2">
            <a:extLst>
              <a:ext uri="{FF2B5EF4-FFF2-40B4-BE49-F238E27FC236}">
                <a16:creationId xmlns:a16="http://schemas.microsoft.com/office/drawing/2014/main" id="{E0E8CAAE-3552-A8D2-2382-2580D4284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9373" y="309867"/>
            <a:ext cx="3932128" cy="6238263"/>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FB619889-3694-2609-2307-D3854F4EE2D4}"/>
              </a:ext>
            </a:extLst>
          </p:cNvPr>
          <p:cNvSpPr txBox="1"/>
          <p:nvPr/>
        </p:nvSpPr>
        <p:spPr>
          <a:xfrm>
            <a:off x="3216443" y="5461631"/>
            <a:ext cx="1189813" cy="369332"/>
          </a:xfrm>
          <a:prstGeom prst="rect">
            <a:avLst/>
          </a:prstGeom>
          <a:noFill/>
        </p:spPr>
        <p:txBody>
          <a:bodyPr wrap="none" rtlCol="0">
            <a:spAutoFit/>
          </a:bodyPr>
          <a:lstStyle/>
          <a:p>
            <a:r>
              <a:rPr lang="en-US" altLang="zh-TW" b="0" i="0" dirty="0" err="1">
                <a:effectLst/>
                <a:latin typeface="Inter"/>
              </a:rPr>
              <a:t>uftrace</a:t>
            </a:r>
            <a:r>
              <a:rPr lang="en-US" altLang="zh-TW" b="0" i="0" dirty="0">
                <a:effectLst/>
                <a:latin typeface="Inter"/>
              </a:rPr>
              <a:t> log</a:t>
            </a:r>
            <a:endParaRPr lang="zh-TW" altLang="en-US" dirty="0"/>
          </a:p>
        </p:txBody>
      </p:sp>
      <p:sp>
        <p:nvSpPr>
          <p:cNvPr id="12" name="矩形 11">
            <a:extLst>
              <a:ext uri="{FF2B5EF4-FFF2-40B4-BE49-F238E27FC236}">
                <a16:creationId xmlns:a16="http://schemas.microsoft.com/office/drawing/2014/main" id="{8E112959-FE77-0228-ED01-7CEBF579F9C3}"/>
              </a:ext>
            </a:extLst>
          </p:cNvPr>
          <p:cNvSpPr/>
          <p:nvPr/>
        </p:nvSpPr>
        <p:spPr>
          <a:xfrm>
            <a:off x="2811610" y="1581150"/>
            <a:ext cx="2795439" cy="21203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68EA6742-F35E-5255-6CBF-BFD0D5CF1C01}"/>
              </a:ext>
            </a:extLst>
          </p:cNvPr>
          <p:cNvSpPr/>
          <p:nvPr/>
        </p:nvSpPr>
        <p:spPr>
          <a:xfrm>
            <a:off x="2733819" y="1280323"/>
            <a:ext cx="2155063" cy="21203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9324442D-355B-9E6B-0504-8C5652DC8257}"/>
              </a:ext>
            </a:extLst>
          </p:cNvPr>
          <p:cNvSpPr/>
          <p:nvPr/>
        </p:nvSpPr>
        <p:spPr>
          <a:xfrm>
            <a:off x="3676103" y="3838634"/>
            <a:ext cx="1181029" cy="21203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7518F744-EDEA-6CF0-68E4-F307BDC935FA}"/>
              </a:ext>
            </a:extLst>
          </p:cNvPr>
          <p:cNvSpPr txBox="1"/>
          <p:nvPr/>
        </p:nvSpPr>
        <p:spPr>
          <a:xfrm>
            <a:off x="6939173" y="2206487"/>
            <a:ext cx="3932128" cy="307777"/>
          </a:xfrm>
          <a:prstGeom prst="rect">
            <a:avLst/>
          </a:prstGeom>
          <a:noFill/>
        </p:spPr>
        <p:txBody>
          <a:bodyPr wrap="square" rtlCol="0">
            <a:spAutoFit/>
          </a:bodyPr>
          <a:lstStyle/>
          <a:p>
            <a:r>
              <a:rPr lang="en-US" altLang="zh-TW" sz="1400" dirty="0">
                <a:solidFill>
                  <a:srgbClr val="FF0000"/>
                </a:solidFill>
              </a:rPr>
              <a:t>Up to template argument     call '</a:t>
            </a:r>
            <a:r>
              <a:rPr lang="en-US" altLang="zh-TW" sz="1400" dirty="0" err="1">
                <a:solidFill>
                  <a:srgbClr val="FF0000"/>
                </a:solidFill>
              </a:rPr>
              <a:t>Alloc</a:t>
            </a:r>
            <a:r>
              <a:rPr lang="en-US" altLang="zh-TW" sz="1400" dirty="0">
                <a:solidFill>
                  <a:srgbClr val="FF0000"/>
                </a:solidFill>
              </a:rPr>
              <a:t>::allocate'</a:t>
            </a:r>
            <a:endParaRPr lang="zh-TW" altLang="en-US" sz="1400" dirty="0">
              <a:solidFill>
                <a:srgbClr val="FF0000"/>
              </a:solidFill>
            </a:endParaRPr>
          </a:p>
        </p:txBody>
      </p:sp>
      <p:sp>
        <p:nvSpPr>
          <p:cNvPr id="17" name="文字方塊 16">
            <a:extLst>
              <a:ext uri="{FF2B5EF4-FFF2-40B4-BE49-F238E27FC236}">
                <a16:creationId xmlns:a16="http://schemas.microsoft.com/office/drawing/2014/main" id="{4F522F9C-9071-DFB7-330C-97DB51CCD6D5}"/>
              </a:ext>
            </a:extLst>
          </p:cNvPr>
          <p:cNvSpPr txBox="1"/>
          <p:nvPr/>
        </p:nvSpPr>
        <p:spPr>
          <a:xfrm>
            <a:off x="9045438" y="1126435"/>
            <a:ext cx="1204240" cy="307777"/>
          </a:xfrm>
          <a:prstGeom prst="rect">
            <a:avLst/>
          </a:prstGeom>
          <a:noFill/>
        </p:spPr>
        <p:txBody>
          <a:bodyPr wrap="none" rtlCol="0">
            <a:spAutoFit/>
          </a:bodyPr>
          <a:lstStyle/>
          <a:p>
            <a:r>
              <a:rPr lang="en-US" altLang="zh-TW" sz="1400" dirty="0">
                <a:solidFill>
                  <a:srgbClr val="FF0000"/>
                </a:solidFill>
              </a:rPr>
              <a:t>General case</a:t>
            </a:r>
            <a:endParaRPr lang="zh-TW" altLang="en-US" sz="1400" dirty="0">
              <a:solidFill>
                <a:srgbClr val="FF0000"/>
              </a:solidFill>
            </a:endParaRPr>
          </a:p>
        </p:txBody>
      </p:sp>
      <p:sp>
        <p:nvSpPr>
          <p:cNvPr id="18" name="文字方塊 17">
            <a:extLst>
              <a:ext uri="{FF2B5EF4-FFF2-40B4-BE49-F238E27FC236}">
                <a16:creationId xmlns:a16="http://schemas.microsoft.com/office/drawing/2014/main" id="{169A1E08-3D7C-6CF4-7A22-B738C759D679}"/>
              </a:ext>
            </a:extLst>
          </p:cNvPr>
          <p:cNvSpPr txBox="1"/>
          <p:nvPr/>
        </p:nvSpPr>
        <p:spPr>
          <a:xfrm>
            <a:off x="7478117" y="2967334"/>
            <a:ext cx="3134641" cy="276999"/>
          </a:xfrm>
          <a:prstGeom prst="rect">
            <a:avLst/>
          </a:prstGeom>
          <a:noFill/>
        </p:spPr>
        <p:txBody>
          <a:bodyPr wrap="none" rtlCol="0">
            <a:spAutoFit/>
          </a:bodyPr>
          <a:lstStyle/>
          <a:p>
            <a:r>
              <a:rPr lang="en-US" altLang="zh-TW" sz="1200" dirty="0">
                <a:solidFill>
                  <a:srgbClr val="FF0000"/>
                </a:solidFill>
              </a:rPr>
              <a:t>Default allocator (but rarely used in practice)</a:t>
            </a:r>
            <a:endParaRPr lang="zh-TW" altLang="en-US" sz="1200" dirty="0">
              <a:solidFill>
                <a:srgbClr val="FF0000"/>
              </a:solidFill>
            </a:endParaRPr>
          </a:p>
        </p:txBody>
      </p:sp>
    </p:spTree>
    <p:extLst>
      <p:ext uri="{BB962C8B-B14F-4D97-AF65-F5344CB8AC3E}">
        <p14:creationId xmlns:p14="http://schemas.microsoft.com/office/powerpoint/2010/main" val="3549659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 what &amp; why?</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solidFill>
                  <a:schemeClr val="bg2">
                    <a:lumMod val="75000"/>
                  </a:schemeClr>
                </a:solidFill>
              </a:rPr>
              <a:t>STL container use allocator to allocate memory</a:t>
            </a:r>
          </a:p>
          <a:p>
            <a:pPr lvl="1"/>
            <a:r>
              <a:rPr lang="en-US" altLang="zh-TW" sz="2000" b="0" i="0" u="none" strike="noStrike" dirty="0">
                <a:solidFill>
                  <a:srgbClr val="96607D"/>
                </a:solidFill>
                <a:effectLst/>
                <a:latin typeface="Inter"/>
                <a:hlinkClick r:id="rId2">
                  <a:extLst>
                    <a:ext uri="{A12FA001-AC4F-418D-AE19-62706E023703}">
                      <ahyp:hlinkClr xmlns:ahyp="http://schemas.microsoft.com/office/drawing/2018/hyperlinkcolor" val="tx"/>
                    </a:ext>
                  </a:extLst>
                </a:hlinkClick>
              </a:rPr>
              <a:t>N4950</a:t>
            </a:r>
            <a:r>
              <a:rPr lang="zh-TW" altLang="en-US" sz="2000" b="0" i="0" u="none" strike="noStrike" dirty="0">
                <a:solidFill>
                  <a:srgbClr val="96607D"/>
                </a:solidFill>
                <a:effectLst/>
                <a:latin typeface="Inter"/>
                <a:hlinkClick r:id="rId2">
                  <a:extLst>
                    <a:ext uri="{A12FA001-AC4F-418D-AE19-62706E023703}">
                      <ahyp:hlinkClr xmlns:ahyp="http://schemas.microsoft.com/office/drawing/2018/hyperlinkcolor" val="tx"/>
                    </a:ext>
                  </a:extLst>
                </a:hlinkClick>
              </a:rPr>
              <a:t>（</a:t>
            </a:r>
            <a:r>
              <a:rPr lang="en-US" altLang="zh-TW" sz="2000" b="0" i="0" u="none" strike="noStrike" dirty="0">
                <a:solidFill>
                  <a:srgbClr val="96607D"/>
                </a:solidFill>
                <a:effectLst/>
                <a:latin typeface="Inter"/>
                <a:hlinkClick r:id="rId2">
                  <a:extLst>
                    <a:ext uri="{A12FA001-AC4F-418D-AE19-62706E023703}">
                      <ahyp:hlinkClr xmlns:ahyp="http://schemas.microsoft.com/office/drawing/2018/hyperlinkcolor" val="tx"/>
                    </a:ext>
                  </a:extLst>
                </a:hlinkClick>
              </a:rPr>
              <a:t>24.2.2.2-64</a:t>
            </a:r>
            <a:r>
              <a:rPr lang="zh-TW" altLang="en-US" sz="2000" b="0" i="0" u="none" strike="noStrike" dirty="0">
                <a:solidFill>
                  <a:schemeClr val="bg2">
                    <a:lumMod val="75000"/>
                  </a:schemeClr>
                </a:solidFill>
                <a:effectLst/>
                <a:latin typeface="Inter"/>
                <a:hlinkClick r:id="rId2">
                  <a:extLst>
                    <a:ext uri="{A12FA001-AC4F-418D-AE19-62706E023703}">
                      <ahyp:hlinkClr xmlns:ahyp="http://schemas.microsoft.com/office/drawing/2018/hyperlinkcolor" val="tx"/>
                    </a:ext>
                  </a:extLst>
                </a:hlinkClick>
              </a:rPr>
              <a:t>）</a:t>
            </a:r>
            <a:r>
              <a:rPr lang="zh-TW" altLang="en-US" sz="2000" b="0" i="0" dirty="0">
                <a:solidFill>
                  <a:schemeClr val="bg2">
                    <a:lumMod val="75000"/>
                  </a:schemeClr>
                </a:solidFill>
                <a:effectLst/>
                <a:latin typeface="Inter"/>
              </a:rPr>
              <a:t>：</a:t>
            </a:r>
            <a:r>
              <a:rPr lang="en-US" altLang="zh-TW" sz="2000" b="0" i="0" dirty="0">
                <a:solidFill>
                  <a:schemeClr val="bg2">
                    <a:lumMod val="75000"/>
                  </a:schemeClr>
                </a:solidFill>
                <a:effectLst/>
                <a:latin typeface="Inter"/>
              </a:rPr>
              <a:t>Unless otherwise specified, all containers defined in this Clause obtain memory using an allocator</a:t>
            </a:r>
          </a:p>
          <a:p>
            <a:pPr lvl="1"/>
            <a:r>
              <a:rPr lang="en-US" altLang="zh-TW" sz="2000" b="0" i="0" u="none" strike="noStrike" dirty="0">
                <a:solidFill>
                  <a:srgbClr val="467886"/>
                </a:solidFill>
                <a:effectLst/>
                <a:latin typeface="Inter"/>
                <a:hlinkClick r:id="rId3">
                  <a:extLst>
                    <a:ext uri="{A12FA001-AC4F-418D-AE19-62706E023703}">
                      <ahyp:hlinkClr xmlns:ahyp="http://schemas.microsoft.com/office/drawing/2018/hyperlinkcolor" val="tx"/>
                    </a:ext>
                  </a:extLst>
                </a:hlinkClick>
              </a:rPr>
              <a:t>N4950</a:t>
            </a:r>
            <a:r>
              <a:rPr lang="zh-TW" altLang="en-US" sz="2000" b="0" i="0" u="none" strike="noStrike" dirty="0">
                <a:solidFill>
                  <a:srgbClr val="467886"/>
                </a:solidFill>
                <a:effectLst/>
                <a:latin typeface="Inter"/>
                <a:hlinkClick r:id="rId3">
                  <a:extLst>
                    <a:ext uri="{A12FA001-AC4F-418D-AE19-62706E023703}">
                      <ahyp:hlinkClr xmlns:ahyp="http://schemas.microsoft.com/office/drawing/2018/hyperlinkcolor" val="tx"/>
                    </a:ext>
                  </a:extLst>
                </a:hlinkClick>
              </a:rPr>
              <a:t>（</a:t>
            </a:r>
            <a:r>
              <a:rPr lang="en-US" altLang="zh-TW" sz="2000" b="0" i="0" u="none" strike="noStrike" dirty="0">
                <a:solidFill>
                  <a:srgbClr val="467886"/>
                </a:solidFill>
                <a:effectLst/>
                <a:latin typeface="Inter"/>
                <a:hlinkClick r:id="rId3">
                  <a:extLst>
                    <a:ext uri="{A12FA001-AC4F-418D-AE19-62706E023703}">
                      <ahyp:hlinkClr xmlns:ahyp="http://schemas.microsoft.com/office/drawing/2018/hyperlinkcolor" val="tx"/>
                    </a:ext>
                  </a:extLst>
                </a:hlinkClick>
              </a:rPr>
              <a:t>24.2.2.5-2</a:t>
            </a:r>
            <a:r>
              <a:rPr lang="zh-TW" altLang="en-US" sz="2000" b="0" i="0" u="none" strike="noStrike" dirty="0">
                <a:solidFill>
                  <a:schemeClr val="bg2">
                    <a:lumMod val="75000"/>
                  </a:schemeClr>
                </a:solidFill>
                <a:effectLst/>
                <a:latin typeface="Inter"/>
                <a:hlinkClick r:id="rId3">
                  <a:extLst>
                    <a:ext uri="{A12FA001-AC4F-418D-AE19-62706E023703}">
                      <ahyp:hlinkClr xmlns:ahyp="http://schemas.microsoft.com/office/drawing/2018/hyperlinkcolor" val="tx"/>
                    </a:ext>
                  </a:extLst>
                </a:hlinkClick>
              </a:rPr>
              <a:t>）</a:t>
            </a:r>
            <a:r>
              <a:rPr lang="zh-TW" altLang="en-US" sz="2000" b="0" i="0" dirty="0">
                <a:solidFill>
                  <a:schemeClr val="bg2">
                    <a:lumMod val="75000"/>
                  </a:schemeClr>
                </a:solidFill>
                <a:effectLst/>
                <a:latin typeface="Inter"/>
              </a:rPr>
              <a:t>：</a:t>
            </a:r>
            <a:r>
              <a:rPr lang="en-US" altLang="zh-TW" sz="2000" b="0" i="0" dirty="0">
                <a:solidFill>
                  <a:schemeClr val="bg2">
                    <a:lumMod val="75000"/>
                  </a:schemeClr>
                </a:solidFill>
                <a:effectLst/>
                <a:latin typeface="Inter"/>
              </a:rPr>
              <a:t>A container calls '</a:t>
            </a:r>
            <a:r>
              <a:rPr lang="en-US" altLang="zh-TW" sz="2000" b="0" i="0" dirty="0" err="1">
                <a:solidFill>
                  <a:schemeClr val="bg2">
                    <a:lumMod val="75000"/>
                  </a:schemeClr>
                </a:solidFill>
                <a:effectLst/>
                <a:latin typeface="Inter"/>
              </a:rPr>
              <a:t>allocator_traits</a:t>
            </a:r>
            <a:r>
              <a:rPr lang="en-US" altLang="zh-TW" sz="2000" b="0" i="0" dirty="0">
                <a:solidFill>
                  <a:schemeClr val="bg2">
                    <a:lumMod val="75000"/>
                  </a:schemeClr>
                </a:solidFill>
                <a:effectLst/>
                <a:latin typeface="Inter"/>
              </a:rPr>
              <a:t>&lt;A&gt;​::​construct(m, p, </a:t>
            </a:r>
            <a:r>
              <a:rPr lang="en-US" altLang="zh-TW" sz="2000" b="0" i="0" dirty="0" err="1">
                <a:solidFill>
                  <a:schemeClr val="bg2">
                    <a:lumMod val="75000"/>
                  </a:schemeClr>
                </a:solidFill>
                <a:effectLst/>
                <a:latin typeface="Inter"/>
              </a:rPr>
              <a:t>args</a:t>
            </a:r>
            <a:r>
              <a:rPr lang="en-US" altLang="zh-TW" sz="2000" b="0" i="0" dirty="0">
                <a:solidFill>
                  <a:schemeClr val="bg2">
                    <a:lumMod val="75000"/>
                  </a:schemeClr>
                </a:solidFill>
                <a:effectLst/>
                <a:latin typeface="Inter"/>
              </a:rPr>
              <a:t>)' to construct an element at 'p' using '</a:t>
            </a:r>
            <a:r>
              <a:rPr lang="en-US" altLang="zh-TW" sz="2000" b="0" i="0" dirty="0" err="1">
                <a:solidFill>
                  <a:schemeClr val="bg2">
                    <a:lumMod val="75000"/>
                  </a:schemeClr>
                </a:solidFill>
                <a:effectLst/>
                <a:latin typeface="Inter"/>
              </a:rPr>
              <a:t>args</a:t>
            </a:r>
            <a:r>
              <a:rPr lang="en-US" altLang="zh-TW" sz="2000" b="0" i="0" dirty="0">
                <a:solidFill>
                  <a:schemeClr val="bg2">
                    <a:lumMod val="75000"/>
                  </a:schemeClr>
                </a:solidFill>
                <a:effectLst/>
                <a:latin typeface="Inter"/>
              </a:rPr>
              <a:t>', with 'm == </a:t>
            </a:r>
            <a:r>
              <a:rPr lang="en-US" altLang="zh-TW" sz="2000" b="0" i="0" dirty="0" err="1">
                <a:solidFill>
                  <a:schemeClr val="bg2">
                    <a:lumMod val="75000"/>
                  </a:schemeClr>
                </a:solidFill>
                <a:effectLst/>
                <a:latin typeface="Inter"/>
              </a:rPr>
              <a:t>get_allocator</a:t>
            </a:r>
            <a:r>
              <a:rPr lang="en-US" altLang="zh-TW" sz="2000" b="0" i="0" dirty="0">
                <a:solidFill>
                  <a:schemeClr val="bg2">
                    <a:lumMod val="75000"/>
                  </a:schemeClr>
                </a:solidFill>
                <a:effectLst/>
                <a:latin typeface="Inter"/>
              </a:rPr>
              <a:t>()'</a:t>
            </a:r>
          </a:p>
          <a:p>
            <a:r>
              <a:rPr lang="en-US" altLang="zh-TW" b="0" i="0" dirty="0">
                <a:effectLst/>
                <a:latin typeface="Inter"/>
              </a:rPr>
              <a:t>The standard provides very detailed procedural specifications for this part.</a:t>
            </a:r>
          </a:p>
          <a:p>
            <a:pPr lvl="1"/>
            <a:r>
              <a:rPr lang="en-US" altLang="zh-TW" dirty="0">
                <a:latin typeface="Inter"/>
              </a:rPr>
              <a:t>We will see it later</a:t>
            </a:r>
          </a:p>
          <a:p>
            <a:r>
              <a:rPr lang="en-US" altLang="zh-TW" dirty="0">
                <a:latin typeface="Inter"/>
              </a:rPr>
              <a:t>Can split memory allocation and object construct.</a:t>
            </a:r>
          </a:p>
        </p:txBody>
      </p:sp>
    </p:spTree>
    <p:extLst>
      <p:ext uri="{BB962C8B-B14F-4D97-AF65-F5344CB8AC3E}">
        <p14:creationId xmlns:p14="http://schemas.microsoft.com/office/powerpoint/2010/main" val="2865385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 </a:t>
            </a:r>
            <a:r>
              <a:rPr lang="en-US" altLang="zh-TW" sz="3200" dirty="0">
                <a:latin typeface="Inter"/>
              </a:rPr>
              <a:t>split memory allocation and object construct </a:t>
            </a:r>
            <a:endParaRPr lang="en-US" altLang="zh-TW" dirty="0"/>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latin typeface="Inter"/>
              </a:rPr>
              <a:t>Use 'std::allocator&lt;T&gt;' to specify which STL container you </a:t>
            </a:r>
            <a:r>
              <a:rPr lang="en-US" altLang="zh-TW" dirty="0" err="1">
                <a:latin typeface="Inter"/>
              </a:rPr>
              <a:t>wanna</a:t>
            </a:r>
            <a:r>
              <a:rPr lang="en-US" altLang="zh-TW" dirty="0">
                <a:latin typeface="Inter"/>
              </a:rPr>
              <a:t> use.</a:t>
            </a:r>
          </a:p>
          <a:p>
            <a:r>
              <a:rPr lang="en-US" altLang="zh-TW" dirty="0">
                <a:latin typeface="Inter"/>
              </a:rPr>
              <a:t>Operator the allocator via 'std::</a:t>
            </a:r>
            <a:r>
              <a:rPr lang="en-US" altLang="zh-TW" dirty="0" err="1">
                <a:latin typeface="Inter"/>
              </a:rPr>
              <a:t>allocator_traits</a:t>
            </a:r>
            <a:r>
              <a:rPr lang="en-US" altLang="zh-TW" dirty="0">
                <a:latin typeface="Inter"/>
              </a:rPr>
              <a:t>'</a:t>
            </a:r>
          </a:p>
          <a:p>
            <a:pPr lvl="1"/>
            <a:r>
              <a:rPr lang="en-US" altLang="zh-TW" dirty="0">
                <a:latin typeface="Inter"/>
              </a:rPr>
              <a:t>You can manually use 'std::allocator'</a:t>
            </a:r>
          </a:p>
          <a:p>
            <a:pPr lvl="1"/>
            <a:r>
              <a:rPr lang="en-US" altLang="zh-TW" dirty="0">
                <a:latin typeface="Inter"/>
              </a:rPr>
              <a:t>But typically you'll want to use the interfaces provided by the standard</a:t>
            </a:r>
          </a:p>
          <a:p>
            <a:r>
              <a:rPr lang="en-US" altLang="zh-TW" dirty="0">
                <a:latin typeface="Inter"/>
              </a:rPr>
              <a:t>Use 'std::</a:t>
            </a:r>
            <a:r>
              <a:rPr lang="en-US" altLang="zh-TW" dirty="0" err="1">
                <a:latin typeface="Inter"/>
              </a:rPr>
              <a:t>allocator_traits</a:t>
            </a:r>
            <a:r>
              <a:rPr lang="en-US" altLang="zh-TW" dirty="0">
                <a:latin typeface="Inter"/>
              </a:rPr>
              <a:t>' to allocate memory and construct object.</a:t>
            </a:r>
          </a:p>
          <a:p>
            <a:pPr lvl="1"/>
            <a:r>
              <a:rPr lang="en-US" altLang="zh-TW" dirty="0">
                <a:latin typeface="Inter"/>
                <a:hlinkClick r:id="rId2"/>
              </a:rPr>
              <a:t>Godbolt link</a:t>
            </a:r>
            <a:endParaRPr lang="en-US" altLang="zh-TW" dirty="0">
              <a:latin typeface="Inter"/>
            </a:endParaRPr>
          </a:p>
          <a:p>
            <a:endParaRPr lang="en-US" altLang="zh-TW" dirty="0">
              <a:latin typeface="Inter"/>
            </a:endParaRPr>
          </a:p>
        </p:txBody>
      </p:sp>
      <p:pic>
        <p:nvPicPr>
          <p:cNvPr id="18" name="圖片 17">
            <a:extLst>
              <a:ext uri="{FF2B5EF4-FFF2-40B4-BE49-F238E27FC236}">
                <a16:creationId xmlns:a16="http://schemas.microsoft.com/office/drawing/2014/main" id="{A965875A-0CD8-BE6D-1774-CEFC763E45C4}"/>
              </a:ext>
            </a:extLst>
          </p:cNvPr>
          <p:cNvPicPr>
            <a:picLocks noChangeAspect="1"/>
          </p:cNvPicPr>
          <p:nvPr/>
        </p:nvPicPr>
        <p:blipFill>
          <a:blip r:embed="rId3"/>
          <a:stretch>
            <a:fillRect/>
          </a:stretch>
        </p:blipFill>
        <p:spPr>
          <a:xfrm>
            <a:off x="2343150" y="4584726"/>
            <a:ext cx="7505700" cy="2139923"/>
          </a:xfrm>
          <a:prstGeom prst="rect">
            <a:avLst/>
          </a:prstGeom>
        </p:spPr>
      </p:pic>
    </p:spTree>
    <p:extLst>
      <p:ext uri="{BB962C8B-B14F-4D97-AF65-F5344CB8AC3E}">
        <p14:creationId xmlns:p14="http://schemas.microsoft.com/office/powerpoint/2010/main" val="61737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 custom allocator</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hlinkClick r:id="rId2"/>
              </a:rPr>
              <a:t>AllocatorAwareContainers</a:t>
            </a:r>
            <a:endParaRPr lang="en-US" altLang="zh-TW" dirty="0"/>
          </a:p>
          <a:p>
            <a:pPr lvl="1"/>
            <a:r>
              <a:rPr lang="en-US" altLang="zh-TW" dirty="0"/>
              <a:t>Containers that can use custom allocator</a:t>
            </a:r>
          </a:p>
          <a:p>
            <a:pPr lvl="1"/>
            <a:r>
              <a:rPr lang="en-US" altLang="zh-TW" dirty="0">
                <a:latin typeface="Inter"/>
              </a:rPr>
              <a:t>Essentially, except for 'std::array' fall into this category</a:t>
            </a:r>
          </a:p>
          <a:p>
            <a:pPr lvl="1"/>
            <a:r>
              <a:rPr lang="en-US" altLang="zh-TW" dirty="0">
                <a:latin typeface="Inter"/>
              </a:rPr>
              <a:t>Indirectly utilize it through the 'std::</a:t>
            </a:r>
            <a:r>
              <a:rPr lang="en-US" altLang="zh-TW" dirty="0" err="1">
                <a:latin typeface="Inter"/>
              </a:rPr>
              <a:t>allocator_trait</a:t>
            </a:r>
            <a:r>
              <a:rPr lang="en-US" altLang="zh-TW" dirty="0">
                <a:latin typeface="Inter"/>
              </a:rPr>
              <a:t>' interface</a:t>
            </a:r>
          </a:p>
          <a:p>
            <a:pPr lvl="2"/>
            <a:r>
              <a:rPr lang="en-US" altLang="zh-TW" dirty="0">
                <a:latin typeface="Inter"/>
              </a:rPr>
              <a:t>Except 'std::string' (due to SSO)</a:t>
            </a:r>
          </a:p>
          <a:p>
            <a:pPr lvl="1"/>
            <a:r>
              <a:rPr lang="en-US" altLang="zh-TW" b="0" i="0" u="none" strike="noStrike" dirty="0">
                <a:solidFill>
                  <a:srgbClr val="2388F6"/>
                </a:solidFill>
                <a:effectLst/>
                <a:latin typeface="Inter"/>
                <a:hlinkClick r:id="rId3"/>
              </a:rPr>
              <a:t>N4950</a:t>
            </a:r>
            <a:r>
              <a:rPr lang="zh-TW" altLang="en-US" b="0" i="0" u="none" strike="noStrike" dirty="0">
                <a:solidFill>
                  <a:srgbClr val="2388F6"/>
                </a:solidFill>
                <a:effectLst/>
                <a:latin typeface="Inter"/>
                <a:hlinkClick r:id="rId3"/>
              </a:rPr>
              <a:t>（</a:t>
            </a:r>
            <a:r>
              <a:rPr lang="en-US" altLang="zh-TW" b="0" i="0" u="none" strike="noStrike" dirty="0">
                <a:solidFill>
                  <a:srgbClr val="2388F6"/>
                </a:solidFill>
                <a:effectLst/>
                <a:latin typeface="Inter"/>
                <a:hlinkClick r:id="rId3"/>
              </a:rPr>
              <a:t>24.2.1</a:t>
            </a:r>
            <a:r>
              <a:rPr lang="zh-TW" altLang="en-US" b="0" i="0" u="none" strike="noStrike" dirty="0">
                <a:solidFill>
                  <a:srgbClr val="2388F6"/>
                </a:solidFill>
                <a:effectLst/>
                <a:latin typeface="Inter"/>
                <a:hlinkClick r:id="rId3"/>
              </a:rPr>
              <a:t>）</a:t>
            </a:r>
            <a:r>
              <a:rPr lang="en-US" altLang="zh-TW" b="0" i="0" u="none" strike="noStrike" dirty="0">
                <a:solidFill>
                  <a:srgbClr val="2388F6"/>
                </a:solidFill>
                <a:effectLst/>
                <a:latin typeface="Inter"/>
              </a:rPr>
              <a:t>:</a:t>
            </a:r>
            <a:endParaRPr lang="en-US" altLang="zh-TW" dirty="0">
              <a:latin typeface="Inter"/>
            </a:endParaRPr>
          </a:p>
        </p:txBody>
      </p:sp>
      <p:pic>
        <p:nvPicPr>
          <p:cNvPr id="8" name="圖片 7">
            <a:extLst>
              <a:ext uri="{FF2B5EF4-FFF2-40B4-BE49-F238E27FC236}">
                <a16:creationId xmlns:a16="http://schemas.microsoft.com/office/drawing/2014/main" id="{7EB7D848-668C-FD2D-8983-4EC32EA32566}"/>
              </a:ext>
            </a:extLst>
          </p:cNvPr>
          <p:cNvPicPr>
            <a:picLocks noChangeAspect="1"/>
          </p:cNvPicPr>
          <p:nvPr/>
        </p:nvPicPr>
        <p:blipFill>
          <a:blip r:embed="rId4"/>
          <a:stretch>
            <a:fillRect/>
          </a:stretch>
        </p:blipFill>
        <p:spPr>
          <a:xfrm>
            <a:off x="1543050" y="4334900"/>
            <a:ext cx="9105900" cy="1842063"/>
          </a:xfrm>
          <a:prstGeom prst="rect">
            <a:avLst/>
          </a:prstGeom>
        </p:spPr>
      </p:pic>
    </p:spTree>
    <p:extLst>
      <p:ext uri="{BB962C8B-B14F-4D97-AF65-F5344CB8AC3E}">
        <p14:creationId xmlns:p14="http://schemas.microsoft.com/office/powerpoint/2010/main" val="1923886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 custom allocator</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t>The requirement for Allocator is very complex (</a:t>
            </a:r>
            <a:r>
              <a:rPr lang="en-US" altLang="zh-TW" dirty="0">
                <a:hlinkClick r:id="rId2"/>
              </a:rPr>
              <a:t>cppreference</a:t>
            </a:r>
            <a:r>
              <a:rPr lang="en-US" altLang="zh-TW" dirty="0"/>
              <a:t>)</a:t>
            </a:r>
          </a:p>
          <a:p>
            <a:r>
              <a:rPr lang="en-US" altLang="zh-TW" dirty="0"/>
              <a:t>std::</a:t>
            </a:r>
            <a:r>
              <a:rPr lang="en-US" altLang="zh-TW" dirty="0" err="1"/>
              <a:t>allocator_trait</a:t>
            </a:r>
            <a:endParaRPr lang="en-US" altLang="zh-TW" dirty="0"/>
          </a:p>
          <a:p>
            <a:pPr lvl="1"/>
            <a:r>
              <a:rPr lang="en-US" altLang="zh-TW" dirty="0"/>
              <a:t>Provides a default implementation for most requirements</a:t>
            </a:r>
          </a:p>
          <a:p>
            <a:pPr lvl="2"/>
            <a:r>
              <a:rPr lang="en-US" altLang="zh-TW" dirty="0"/>
              <a:t>Check </a:t>
            </a:r>
            <a:r>
              <a:rPr lang="en-US" altLang="zh-TW" dirty="0">
                <a:hlinkClick r:id="rId3"/>
              </a:rPr>
              <a:t>cppreference</a:t>
            </a:r>
            <a:r>
              <a:rPr lang="en-US" altLang="zh-TW" dirty="0"/>
              <a:t> for the list</a:t>
            </a:r>
          </a:p>
          <a:p>
            <a:pPr lvl="1"/>
            <a:r>
              <a:rPr lang="en-US" altLang="zh-TW" dirty="0"/>
              <a:t>Allows us to customize only the operations we care about</a:t>
            </a:r>
          </a:p>
          <a:p>
            <a:pPr lvl="1"/>
            <a:r>
              <a:rPr lang="en-US" altLang="zh-TW" b="0" i="0" dirty="0">
                <a:effectLst/>
                <a:latin typeface="Inter"/>
              </a:rPr>
              <a:t>Howard </a:t>
            </a:r>
            <a:r>
              <a:rPr lang="en-US" altLang="zh-TW" b="0" i="0" dirty="0" err="1">
                <a:effectLst/>
                <a:latin typeface="Inter"/>
              </a:rPr>
              <a:t>Hinnant</a:t>
            </a:r>
            <a:r>
              <a:rPr lang="en-US" altLang="zh-TW" b="0" i="0" dirty="0">
                <a:effectLst/>
                <a:latin typeface="Inter"/>
              </a:rPr>
              <a:t> gave an template of custom Allocator </a:t>
            </a:r>
            <a:r>
              <a:rPr lang="en-US" altLang="zh-TW" b="0" i="0" dirty="0">
                <a:effectLst/>
                <a:latin typeface="Inter"/>
                <a:hlinkClick r:id="rId4"/>
              </a:rPr>
              <a:t>on his </a:t>
            </a:r>
            <a:r>
              <a:rPr lang="en-US" altLang="zh-TW" dirty="0">
                <a:latin typeface="Inter"/>
                <a:hlinkClick r:id="rId4"/>
              </a:rPr>
              <a:t>blog</a:t>
            </a:r>
            <a:endParaRPr lang="en-US" altLang="zh-TW" dirty="0">
              <a:latin typeface="Inter"/>
            </a:endParaRPr>
          </a:p>
        </p:txBody>
      </p:sp>
    </p:spTree>
    <p:extLst>
      <p:ext uri="{BB962C8B-B14F-4D97-AF65-F5344CB8AC3E}">
        <p14:creationId xmlns:p14="http://schemas.microsoft.com/office/powerpoint/2010/main" val="590871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 custom allocator</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p:txBody>
          <a:bodyPr/>
          <a:lstStyle/>
          <a:p>
            <a:r>
              <a:rPr lang="en-US" altLang="zh-TW" dirty="0"/>
              <a:t>Essentially, you need implement </a:t>
            </a:r>
          </a:p>
          <a:p>
            <a:pPr lvl="1"/>
            <a:r>
              <a:rPr lang="en-US" altLang="zh-TW" dirty="0" err="1"/>
              <a:t>value_type</a:t>
            </a:r>
            <a:endParaRPr lang="en-US" altLang="zh-TW" dirty="0"/>
          </a:p>
          <a:p>
            <a:pPr lvl="1"/>
            <a:r>
              <a:rPr lang="en-US" altLang="zh-TW" dirty="0"/>
              <a:t>allocate()</a:t>
            </a:r>
          </a:p>
          <a:p>
            <a:pPr lvl="1"/>
            <a:r>
              <a:rPr lang="en-US" altLang="zh-TW" dirty="0"/>
              <a:t>deallocate()</a:t>
            </a:r>
          </a:p>
          <a:p>
            <a:pPr lvl="1"/>
            <a:r>
              <a:rPr lang="en-US" altLang="zh-TW" dirty="0"/>
              <a:t>Default constructors and copy constructors are “recommended” to include.</a:t>
            </a:r>
          </a:p>
          <a:p>
            <a:r>
              <a:rPr lang="en-US" altLang="zh-TW" dirty="0">
                <a:latin typeface="Inter"/>
              </a:rPr>
              <a:t>Simplest custom allocator (</a:t>
            </a:r>
            <a:r>
              <a:rPr lang="en-US" altLang="zh-TW" dirty="0">
                <a:latin typeface="Inter"/>
                <a:hlinkClick r:id="rId2"/>
              </a:rPr>
              <a:t>Godbolt link</a:t>
            </a:r>
            <a:r>
              <a:rPr lang="en-US" altLang="zh-TW" dirty="0">
                <a:latin typeface="Inter"/>
              </a:rPr>
              <a:t>)</a:t>
            </a:r>
          </a:p>
          <a:p>
            <a:r>
              <a:rPr lang="en-US" altLang="zh-TW" dirty="0">
                <a:latin typeface="Inter"/>
              </a:rPr>
              <a:t>Simple stack string allocator (</a:t>
            </a:r>
            <a:r>
              <a:rPr lang="en-US" altLang="zh-TW" dirty="0">
                <a:latin typeface="Inter"/>
                <a:hlinkClick r:id="rId3"/>
              </a:rPr>
              <a:t>Godbolt link</a:t>
            </a:r>
            <a:r>
              <a:rPr lang="en-US" altLang="zh-TW" dirty="0">
                <a:latin typeface="Inter"/>
              </a:rPr>
              <a:t>)</a:t>
            </a:r>
          </a:p>
        </p:txBody>
      </p:sp>
    </p:spTree>
    <p:extLst>
      <p:ext uri="{BB962C8B-B14F-4D97-AF65-F5344CB8AC3E}">
        <p14:creationId xmlns:p14="http://schemas.microsoft.com/office/powerpoint/2010/main" val="2105818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Allocator &amp; PMR</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a:xfrm>
            <a:off x="838200" y="1825624"/>
            <a:ext cx="10515600" cy="5032375"/>
          </a:xfrm>
        </p:spPr>
        <p:txBody>
          <a:bodyPr>
            <a:normAutofit/>
          </a:bodyPr>
          <a:lstStyle/>
          <a:p>
            <a:r>
              <a:rPr lang="en-US" altLang="zh-TW" dirty="0">
                <a:solidFill>
                  <a:schemeClr val="bg2">
                    <a:lumMod val="75000"/>
                  </a:schemeClr>
                </a:solidFill>
              </a:rPr>
              <a:t>Brief History</a:t>
            </a:r>
          </a:p>
          <a:p>
            <a:r>
              <a:rPr lang="en-US" altLang="zh-TW" dirty="0">
                <a:solidFill>
                  <a:schemeClr val="bg2">
                    <a:lumMod val="75000"/>
                  </a:schemeClr>
                </a:solidFill>
              </a:rPr>
              <a:t>Allocator usage</a:t>
            </a:r>
          </a:p>
          <a:p>
            <a:pPr lvl="1"/>
            <a:r>
              <a:rPr lang="en-US" altLang="zh-TW" dirty="0">
                <a:solidFill>
                  <a:schemeClr val="bg2">
                    <a:lumMod val="75000"/>
                  </a:schemeClr>
                </a:solidFill>
              </a:rPr>
              <a:t>What is allocator?</a:t>
            </a:r>
          </a:p>
          <a:p>
            <a:pPr lvl="1"/>
            <a:r>
              <a:rPr lang="en-US" altLang="zh-TW" dirty="0">
                <a:solidFill>
                  <a:schemeClr val="bg2">
                    <a:lumMod val="75000"/>
                  </a:schemeClr>
                </a:solidFill>
              </a:rPr>
              <a:t>Custom allocator</a:t>
            </a:r>
          </a:p>
          <a:p>
            <a:r>
              <a:rPr lang="en-US" altLang="zh-TW" dirty="0"/>
              <a:t>PMR </a:t>
            </a:r>
          </a:p>
          <a:p>
            <a:pPr lvl="1"/>
            <a:r>
              <a:rPr lang="en-US" altLang="zh-TW" dirty="0"/>
              <a:t>What &amp; why PMR</a:t>
            </a:r>
          </a:p>
          <a:p>
            <a:pPr lvl="1"/>
            <a:r>
              <a:rPr lang="en-US" altLang="zh-TW" dirty="0"/>
              <a:t>PMR usage</a:t>
            </a:r>
          </a:p>
          <a:p>
            <a:pPr lvl="1"/>
            <a:r>
              <a:rPr lang="en-US" altLang="zh-TW" dirty="0"/>
              <a:t>Custom '</a:t>
            </a:r>
            <a:r>
              <a:rPr lang="en-US" altLang="zh-TW" dirty="0" err="1"/>
              <a:t>memory_resource</a:t>
            </a:r>
            <a:r>
              <a:rPr lang="en-US" altLang="zh-TW" dirty="0"/>
              <a:t>'</a:t>
            </a:r>
          </a:p>
          <a:p>
            <a:r>
              <a:rPr lang="en-US" altLang="zh-TW" dirty="0">
                <a:solidFill>
                  <a:schemeClr val="bg2">
                    <a:lumMod val="75000"/>
                  </a:schemeClr>
                </a:solidFill>
              </a:rPr>
              <a:t>Allocator/PMR for user defined class</a:t>
            </a:r>
          </a:p>
          <a:p>
            <a:pPr lvl="1"/>
            <a:r>
              <a:rPr lang="en-US" altLang="zh-TW" dirty="0">
                <a:solidFill>
                  <a:schemeClr val="bg2">
                    <a:lumMod val="75000"/>
                  </a:schemeClr>
                </a:solidFill>
              </a:rPr>
              <a:t>std::</a:t>
            </a:r>
            <a:r>
              <a:rPr lang="en-US" altLang="zh-TW" dirty="0" err="1">
                <a:solidFill>
                  <a:schemeClr val="bg2">
                    <a:lumMod val="75000"/>
                  </a:schemeClr>
                </a:solidFill>
              </a:rPr>
              <a:t>use_allocator_v</a:t>
            </a:r>
            <a:endParaRPr lang="en-US" altLang="zh-TW" dirty="0">
              <a:solidFill>
                <a:schemeClr val="bg2">
                  <a:lumMod val="75000"/>
                </a:schemeClr>
              </a:solidFill>
            </a:endParaRPr>
          </a:p>
          <a:p>
            <a:pPr lvl="1"/>
            <a:r>
              <a:rPr lang="en-US" altLang="zh-TW" dirty="0">
                <a:solidFill>
                  <a:schemeClr val="bg2">
                    <a:lumMod val="75000"/>
                  </a:schemeClr>
                </a:solidFill>
              </a:rPr>
              <a:t>Uses-allocator construction</a:t>
            </a:r>
          </a:p>
          <a:p>
            <a:pPr lvl="1"/>
            <a:endParaRPr lang="zh-TW" altLang="en-US" dirty="0"/>
          </a:p>
        </p:txBody>
      </p:sp>
    </p:spTree>
    <p:extLst>
      <p:ext uri="{BB962C8B-B14F-4D97-AF65-F5344CB8AC3E}">
        <p14:creationId xmlns:p14="http://schemas.microsoft.com/office/powerpoint/2010/main" val="590555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why?</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b="0" i="0" u="none" strike="noStrike" dirty="0">
                <a:solidFill>
                  <a:srgbClr val="2388F6"/>
                </a:solidFill>
                <a:effectLst/>
                <a:latin typeface="Inter"/>
                <a:hlinkClick r:id="rId2"/>
              </a:rPr>
              <a:t>N3916</a:t>
            </a:r>
            <a:r>
              <a:rPr lang="en-US" altLang="zh-TW" b="0" i="0" u="none" strike="noStrike" dirty="0">
                <a:solidFill>
                  <a:srgbClr val="2388F6"/>
                </a:solidFill>
                <a:effectLst/>
                <a:latin typeface="Inter"/>
              </a:rPr>
              <a:t>:</a:t>
            </a:r>
          </a:p>
          <a:p>
            <a:pPr lvl="1">
              <a:buFont typeface="+mj-lt"/>
              <a:buAutoNum type="arabicPeriod"/>
            </a:pPr>
            <a:r>
              <a:rPr lang="en-US" altLang="zh-TW" b="0" i="0" dirty="0">
                <a:solidFill>
                  <a:schemeClr val="tx1">
                    <a:lumMod val="75000"/>
                    <a:lumOff val="25000"/>
                  </a:schemeClr>
                </a:solidFill>
                <a:effectLst/>
                <a:latin typeface="Inter"/>
              </a:rPr>
              <a:t> The allocator used to construct a container should also be used to construct the elements within that container.</a:t>
            </a:r>
          </a:p>
          <a:p>
            <a:pPr lvl="1">
              <a:buFont typeface="+mj-lt"/>
              <a:buAutoNum type="arabicPeriod"/>
            </a:pPr>
            <a:r>
              <a:rPr lang="en-US" altLang="zh-TW" b="0" i="0" dirty="0">
                <a:solidFill>
                  <a:schemeClr val="tx1">
                    <a:lumMod val="75000"/>
                    <a:lumOff val="25000"/>
                  </a:schemeClr>
                </a:solidFill>
                <a:effectLst/>
                <a:latin typeface="Inter"/>
              </a:rPr>
              <a:t> An object’s type should be independent of the allocator it uses to obtain memory.</a:t>
            </a:r>
          </a:p>
          <a:p>
            <a:r>
              <a:rPr lang="en-US" altLang="zh-TW" dirty="0">
                <a:latin typeface="Inter"/>
              </a:rPr>
              <a:t>The first problem occurred in </a:t>
            </a:r>
            <a:r>
              <a:rPr lang="en-US" altLang="zh-TW" dirty="0" err="1">
                <a:latin typeface="Inter"/>
              </a:rPr>
              <a:t>sth</a:t>
            </a:r>
            <a:r>
              <a:rPr lang="en-US" altLang="zh-TW" dirty="0">
                <a:latin typeface="Inter"/>
              </a:rPr>
              <a:t> like </a:t>
            </a:r>
            <a:r>
              <a:rPr lang="en-US" altLang="zh-TW" dirty="0"/>
              <a:t>'</a:t>
            </a:r>
            <a:r>
              <a:rPr lang="en-US" altLang="zh-TW" dirty="0">
                <a:latin typeface="Inter"/>
              </a:rPr>
              <a:t>std::vector&lt;std::string&gt;</a:t>
            </a:r>
            <a:r>
              <a:rPr lang="en-US" altLang="zh-TW" dirty="0"/>
              <a:t>'</a:t>
            </a:r>
            <a:endParaRPr lang="en-US" altLang="zh-TW" dirty="0">
              <a:latin typeface="Inter"/>
            </a:endParaRPr>
          </a:p>
          <a:p>
            <a:pPr lvl="1"/>
            <a:r>
              <a:rPr lang="en-US" altLang="zh-TW" dirty="0">
                <a:latin typeface="Inter"/>
              </a:rPr>
              <a:t>Can be solved by </a:t>
            </a:r>
            <a:r>
              <a:rPr lang="en-US" altLang="zh-TW" dirty="0"/>
              <a:t>'</a:t>
            </a:r>
            <a:r>
              <a:rPr lang="en-US" altLang="zh-TW" dirty="0">
                <a:latin typeface="Inter"/>
              </a:rPr>
              <a:t>std::</a:t>
            </a:r>
            <a:r>
              <a:rPr lang="en-US" altLang="zh-TW" dirty="0" err="1">
                <a:latin typeface="Inter"/>
              </a:rPr>
              <a:t>scoped_allocator_adaptor</a:t>
            </a:r>
            <a:r>
              <a:rPr lang="en-US" altLang="zh-TW" dirty="0">
                <a:latin typeface="Inter"/>
              </a:rPr>
              <a:t>'</a:t>
            </a:r>
          </a:p>
          <a:p>
            <a:r>
              <a:rPr lang="en-US" altLang="zh-TW" dirty="0"/>
              <a:t>For the second problem</a:t>
            </a:r>
          </a:p>
          <a:p>
            <a:pPr lvl="1"/>
            <a:r>
              <a:rPr lang="en-US" altLang="zh-TW" dirty="0"/>
              <a:t>Each use of an Allocator adds another static type.</a:t>
            </a:r>
          </a:p>
          <a:p>
            <a:pPr lvl="1"/>
            <a:r>
              <a:rPr lang="en-US" altLang="zh-TW" dirty="0"/>
              <a:t>The memory allocation strategy can't be changed</a:t>
            </a:r>
          </a:p>
        </p:txBody>
      </p:sp>
    </p:spTree>
    <p:extLst>
      <p:ext uri="{BB962C8B-B14F-4D97-AF65-F5344CB8AC3E}">
        <p14:creationId xmlns:p14="http://schemas.microsoft.com/office/powerpoint/2010/main" val="3018302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why?</a:t>
            </a:r>
          </a:p>
        </p:txBody>
      </p:sp>
      <p:pic>
        <p:nvPicPr>
          <p:cNvPr id="11" name="圖片 10">
            <a:extLst>
              <a:ext uri="{FF2B5EF4-FFF2-40B4-BE49-F238E27FC236}">
                <a16:creationId xmlns:a16="http://schemas.microsoft.com/office/drawing/2014/main" id="{02835FC4-F9D1-C1DD-B374-0DF25FD7BA91}"/>
              </a:ext>
            </a:extLst>
          </p:cNvPr>
          <p:cNvPicPr>
            <a:picLocks noChangeAspect="1"/>
          </p:cNvPicPr>
          <p:nvPr/>
        </p:nvPicPr>
        <p:blipFill>
          <a:blip r:embed="rId2"/>
          <a:stretch>
            <a:fillRect/>
          </a:stretch>
        </p:blipFill>
        <p:spPr>
          <a:xfrm>
            <a:off x="1321962" y="1690688"/>
            <a:ext cx="9548075" cy="4752581"/>
          </a:xfrm>
          <a:prstGeom prst="rect">
            <a:avLst/>
          </a:prstGeom>
        </p:spPr>
      </p:pic>
    </p:spTree>
    <p:extLst>
      <p:ext uri="{BB962C8B-B14F-4D97-AF65-F5344CB8AC3E}">
        <p14:creationId xmlns:p14="http://schemas.microsoft.com/office/powerpoint/2010/main" val="3416711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why?</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The two vectors have different static types</a:t>
            </a:r>
          </a:p>
        </p:txBody>
      </p:sp>
      <p:pic>
        <p:nvPicPr>
          <p:cNvPr id="9" name="圖片 8">
            <a:extLst>
              <a:ext uri="{FF2B5EF4-FFF2-40B4-BE49-F238E27FC236}">
                <a16:creationId xmlns:a16="http://schemas.microsoft.com/office/drawing/2014/main" id="{8363682C-B7A0-75AA-B6DB-7E8638362682}"/>
              </a:ext>
            </a:extLst>
          </p:cNvPr>
          <p:cNvPicPr>
            <a:picLocks noChangeAspect="1"/>
          </p:cNvPicPr>
          <p:nvPr/>
        </p:nvPicPr>
        <p:blipFill>
          <a:blip r:embed="rId2"/>
          <a:stretch>
            <a:fillRect/>
          </a:stretch>
        </p:blipFill>
        <p:spPr>
          <a:xfrm>
            <a:off x="1321962" y="2613896"/>
            <a:ext cx="9548075" cy="1808008"/>
          </a:xfrm>
          <a:prstGeom prst="rect">
            <a:avLst/>
          </a:prstGeom>
        </p:spPr>
      </p:pic>
    </p:spTree>
    <p:extLst>
      <p:ext uri="{BB962C8B-B14F-4D97-AF65-F5344CB8AC3E}">
        <p14:creationId xmlns:p14="http://schemas.microsoft.com/office/powerpoint/2010/main" val="710130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why?</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Also, this two parameters must have element type information</a:t>
            </a:r>
          </a:p>
          <a:p>
            <a:pPr lvl="1"/>
            <a:r>
              <a:rPr lang="en-US" altLang="zh-TW" dirty="0"/>
              <a:t>This example is not correct.</a:t>
            </a:r>
          </a:p>
          <a:p>
            <a:pPr lvl="2"/>
            <a:r>
              <a:rPr lang="en-US" altLang="zh-TW" dirty="0"/>
              <a:t>Don’t forget allocator can apply on different container with different element type.</a:t>
            </a:r>
          </a:p>
          <a:p>
            <a:pPr lvl="1"/>
            <a:r>
              <a:rPr lang="en-US" altLang="zh-TW" dirty="0"/>
              <a:t>This is an common mistake that ppl make an allocator for a specific type</a:t>
            </a:r>
          </a:p>
          <a:p>
            <a:pPr lvl="1"/>
            <a:r>
              <a:rPr lang="en-US" altLang="zh-TW" dirty="0"/>
              <a:t>The issue here is that the type is hardcoded (maybe very implicit)</a:t>
            </a:r>
          </a:p>
          <a:p>
            <a:pPr lvl="2"/>
            <a:r>
              <a:rPr lang="en-US" altLang="zh-TW" dirty="0"/>
              <a:t>Not that he forgot to specify the type, this kind of mistake can pass compile.</a:t>
            </a:r>
          </a:p>
        </p:txBody>
      </p:sp>
      <p:pic>
        <p:nvPicPr>
          <p:cNvPr id="9" name="圖片 8">
            <a:extLst>
              <a:ext uri="{FF2B5EF4-FFF2-40B4-BE49-F238E27FC236}">
                <a16:creationId xmlns:a16="http://schemas.microsoft.com/office/drawing/2014/main" id="{8363682C-B7A0-75AA-B6DB-7E8638362682}"/>
              </a:ext>
            </a:extLst>
          </p:cNvPr>
          <p:cNvPicPr>
            <a:picLocks noChangeAspect="1"/>
          </p:cNvPicPr>
          <p:nvPr/>
        </p:nvPicPr>
        <p:blipFill>
          <a:blip r:embed="rId2"/>
          <a:stretch>
            <a:fillRect/>
          </a:stretch>
        </p:blipFill>
        <p:spPr>
          <a:xfrm>
            <a:off x="1321962" y="4217840"/>
            <a:ext cx="9548075" cy="1808008"/>
          </a:xfrm>
          <a:prstGeom prst="rect">
            <a:avLst/>
          </a:prstGeom>
        </p:spPr>
      </p:pic>
      <p:sp>
        <p:nvSpPr>
          <p:cNvPr id="6" name="矩形 5">
            <a:extLst>
              <a:ext uri="{FF2B5EF4-FFF2-40B4-BE49-F238E27FC236}">
                <a16:creationId xmlns:a16="http://schemas.microsoft.com/office/drawing/2014/main" id="{62F5270B-9222-C34E-4287-0D4C22E9CC21}"/>
              </a:ext>
            </a:extLst>
          </p:cNvPr>
          <p:cNvSpPr/>
          <p:nvPr/>
        </p:nvSpPr>
        <p:spPr>
          <a:xfrm>
            <a:off x="7203930" y="4224190"/>
            <a:ext cx="2270269" cy="38322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50A89AE3-18BA-D385-07E6-3E6168C23420}"/>
              </a:ext>
            </a:extLst>
          </p:cNvPr>
          <p:cNvSpPr/>
          <p:nvPr/>
        </p:nvSpPr>
        <p:spPr>
          <a:xfrm>
            <a:off x="7412179" y="4668690"/>
            <a:ext cx="2709002" cy="38322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a:extLst>
              <a:ext uri="{FF2B5EF4-FFF2-40B4-BE49-F238E27FC236}">
                <a16:creationId xmlns:a16="http://schemas.microsoft.com/office/drawing/2014/main" id="{40547683-6BD3-447E-32EA-8E42D388E1D8}"/>
              </a:ext>
            </a:extLst>
          </p:cNvPr>
          <p:cNvCxnSpPr>
            <a:cxnSpLocks/>
          </p:cNvCxnSpPr>
          <p:nvPr/>
        </p:nvCxnSpPr>
        <p:spPr>
          <a:xfrm flipV="1">
            <a:off x="8712200" y="5101602"/>
            <a:ext cx="0" cy="1172198"/>
          </a:xfrm>
          <a:prstGeom prst="straightConnector1">
            <a:avLst/>
          </a:prstGeom>
          <a:ln w="666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文字方塊 9">
            <a:extLst>
              <a:ext uri="{FF2B5EF4-FFF2-40B4-BE49-F238E27FC236}">
                <a16:creationId xmlns:a16="http://schemas.microsoft.com/office/drawing/2014/main" id="{1B28C4E5-CE66-CAE5-13A9-06966101DF90}"/>
              </a:ext>
            </a:extLst>
          </p:cNvPr>
          <p:cNvSpPr txBox="1"/>
          <p:nvPr/>
        </p:nvSpPr>
        <p:spPr>
          <a:xfrm>
            <a:off x="6776285" y="6292032"/>
            <a:ext cx="3871829" cy="369332"/>
          </a:xfrm>
          <a:prstGeom prst="rect">
            <a:avLst/>
          </a:prstGeom>
          <a:noFill/>
        </p:spPr>
        <p:txBody>
          <a:bodyPr wrap="none" rtlCol="0">
            <a:spAutoFit/>
          </a:bodyPr>
          <a:lstStyle/>
          <a:p>
            <a:r>
              <a:rPr lang="en-US" altLang="zh-TW" dirty="0"/>
              <a:t>Should be </a:t>
            </a:r>
            <a:r>
              <a:rPr lang="en-US" altLang="zh-TW" dirty="0" err="1"/>
              <a:t>sth</a:t>
            </a:r>
            <a:r>
              <a:rPr lang="en-US" altLang="zh-TW" dirty="0"/>
              <a:t> like '</a:t>
            </a:r>
            <a:r>
              <a:rPr lang="en-US" altLang="zh-TW" dirty="0" err="1"/>
              <a:t>my_allocator</a:t>
            </a:r>
            <a:r>
              <a:rPr lang="en-US" altLang="zh-TW" dirty="0"/>
              <a:t>&lt;int&gt;'</a:t>
            </a:r>
            <a:endParaRPr lang="zh-TW" altLang="en-US" dirty="0"/>
          </a:p>
        </p:txBody>
      </p:sp>
    </p:spTree>
    <p:extLst>
      <p:ext uri="{BB962C8B-B14F-4D97-AF65-F5344CB8AC3E}">
        <p14:creationId xmlns:p14="http://schemas.microsoft.com/office/powerpoint/2010/main" val="948101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what?</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Use runtime polymorphism to achieve same static type</a:t>
            </a:r>
          </a:p>
          <a:p>
            <a:r>
              <a:rPr lang="en-US" altLang="zh-TW" dirty="0"/>
              <a:t>Can change memory allocation strategy at runtime</a:t>
            </a:r>
          </a:p>
          <a:p>
            <a:r>
              <a:rPr lang="en-US" altLang="zh-TW" b="0" i="0" dirty="0">
                <a:effectLst/>
                <a:latin typeface="ui-monospace"/>
              </a:rPr>
              <a:t>'std::</a:t>
            </a:r>
            <a:r>
              <a:rPr lang="en-US" altLang="zh-TW" b="0" i="0" dirty="0" err="1">
                <a:effectLst/>
                <a:latin typeface="ui-monospace"/>
              </a:rPr>
              <a:t>pmr</a:t>
            </a:r>
            <a:r>
              <a:rPr lang="en-US" altLang="zh-TW" b="0" i="0" dirty="0">
                <a:effectLst/>
                <a:latin typeface="ui-monospace"/>
              </a:rPr>
              <a:t>::</a:t>
            </a:r>
            <a:r>
              <a:rPr lang="en-US" altLang="zh-TW" b="0" i="0" dirty="0" err="1">
                <a:effectLst/>
                <a:latin typeface="ui-monospace"/>
              </a:rPr>
              <a:t>polymorphic_allocator</a:t>
            </a:r>
            <a:r>
              <a:rPr lang="en-US" altLang="zh-TW" b="0" i="0" dirty="0">
                <a:effectLst/>
                <a:latin typeface="ui-monospace"/>
              </a:rPr>
              <a:t>&lt;T&gt;'</a:t>
            </a:r>
          </a:p>
          <a:p>
            <a:pPr lvl="1"/>
            <a:r>
              <a:rPr lang="en-US" altLang="zh-TW" dirty="0">
                <a:latin typeface="ui-monospace"/>
              </a:rPr>
              <a:t>An allocator provided</a:t>
            </a:r>
            <a:r>
              <a:rPr lang="zh-TW" altLang="en-US" dirty="0">
                <a:latin typeface="ui-monospace"/>
              </a:rPr>
              <a:t> </a:t>
            </a:r>
            <a:r>
              <a:rPr lang="en-US" altLang="zh-TW" dirty="0">
                <a:latin typeface="ui-monospace"/>
              </a:rPr>
              <a:t>by PMR</a:t>
            </a:r>
            <a:endParaRPr lang="en-US" altLang="zh-TW" dirty="0"/>
          </a:p>
          <a:p>
            <a:pPr lvl="1"/>
            <a:r>
              <a:rPr lang="en-US" altLang="zh-TW" dirty="0"/>
              <a:t>Totally conforms to the requirements of Allocator</a:t>
            </a:r>
          </a:p>
          <a:p>
            <a:pPr lvl="1"/>
            <a:r>
              <a:rPr lang="en-US" altLang="zh-TW" dirty="0"/>
              <a:t>Template parameter represents element type</a:t>
            </a:r>
          </a:p>
          <a:p>
            <a:pPr lvl="1"/>
            <a:r>
              <a:rPr lang="en-US" altLang="zh-TW" dirty="0"/>
              <a:t>Contain a pointer that point to 'std::</a:t>
            </a:r>
            <a:r>
              <a:rPr lang="en-US" altLang="zh-TW" dirty="0" err="1"/>
              <a:t>pmr</a:t>
            </a:r>
            <a:r>
              <a:rPr lang="en-US" altLang="zh-TW" dirty="0"/>
              <a:t>::</a:t>
            </a:r>
            <a:r>
              <a:rPr lang="en-US" altLang="zh-TW" dirty="0" err="1"/>
              <a:t>memory_resource</a:t>
            </a:r>
            <a:r>
              <a:rPr lang="en-US" altLang="zh-TW" dirty="0"/>
              <a:t>'</a:t>
            </a:r>
          </a:p>
          <a:p>
            <a:pPr lvl="1"/>
            <a:r>
              <a:rPr lang="en-US" altLang="zh-TW" dirty="0"/>
              <a:t>STL container still use the 'std::</a:t>
            </a:r>
            <a:r>
              <a:rPr lang="en-US" altLang="zh-TW" dirty="0" err="1"/>
              <a:t>allocator_traits</a:t>
            </a:r>
            <a:r>
              <a:rPr lang="en-US" altLang="zh-TW" dirty="0"/>
              <a:t>' interface</a:t>
            </a:r>
          </a:p>
          <a:p>
            <a:r>
              <a:rPr lang="en-US" altLang="zh-TW" dirty="0"/>
              <a:t>'std::</a:t>
            </a:r>
            <a:r>
              <a:rPr lang="en-US" altLang="zh-TW" dirty="0" err="1"/>
              <a:t>pmr</a:t>
            </a:r>
            <a:r>
              <a:rPr lang="en-US" altLang="zh-TW" dirty="0"/>
              <a:t>::</a:t>
            </a:r>
            <a:r>
              <a:rPr lang="en-US" altLang="zh-TW" dirty="0" err="1"/>
              <a:t>memory_resource</a:t>
            </a:r>
            <a:r>
              <a:rPr lang="en-US" altLang="zh-TW" dirty="0"/>
              <a:t>'</a:t>
            </a:r>
          </a:p>
          <a:p>
            <a:pPr lvl="1"/>
            <a:r>
              <a:rPr lang="en-US" altLang="zh-TW" dirty="0"/>
              <a:t>The place apply runtime polymorphism.</a:t>
            </a:r>
          </a:p>
          <a:p>
            <a:pPr lvl="1"/>
            <a:r>
              <a:rPr lang="en-US" altLang="zh-TW" dirty="0"/>
              <a:t>The place that allocate the memory.</a:t>
            </a:r>
          </a:p>
        </p:txBody>
      </p:sp>
    </p:spTree>
    <p:extLst>
      <p:ext uri="{BB962C8B-B14F-4D97-AF65-F5344CB8AC3E}">
        <p14:creationId xmlns:p14="http://schemas.microsoft.com/office/powerpoint/2010/main" val="4077866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sz="3600" dirty="0"/>
              <a:t>'std::</a:t>
            </a:r>
            <a:r>
              <a:rPr lang="en-US" altLang="zh-TW" sz="3600" dirty="0" err="1"/>
              <a:t>pmr</a:t>
            </a:r>
            <a:r>
              <a:rPr lang="en-US" altLang="zh-TW" sz="3600" dirty="0"/>
              <a:t>::</a:t>
            </a:r>
            <a:r>
              <a:rPr lang="en-US" altLang="zh-TW" sz="3600" dirty="0" err="1"/>
              <a:t>memory_resource</a:t>
            </a:r>
            <a:r>
              <a:rPr lang="en-US" altLang="zh-TW" sz="3600" dirty="0"/>
              <a:t>' in </a:t>
            </a:r>
            <a:r>
              <a:rPr lang="en-US" altLang="zh-TW" sz="3600" dirty="0" err="1"/>
              <a:t>llvm</a:t>
            </a:r>
            <a:r>
              <a:rPr lang="en-US" altLang="zh-TW" sz="3600" dirty="0"/>
              <a:t> frontend</a:t>
            </a:r>
            <a:endParaRPr lang="en-US" altLang="zh-TW" dirty="0"/>
          </a:p>
        </p:txBody>
      </p:sp>
      <p:pic>
        <p:nvPicPr>
          <p:cNvPr id="4" name="內容版面配置區 5">
            <a:extLst>
              <a:ext uri="{FF2B5EF4-FFF2-40B4-BE49-F238E27FC236}">
                <a16:creationId xmlns:a16="http://schemas.microsoft.com/office/drawing/2014/main" id="{2347C624-B019-1587-4E7C-645694AC221E}"/>
              </a:ext>
            </a:extLst>
          </p:cNvPr>
          <p:cNvPicPr>
            <a:picLocks noChangeAspect="1"/>
          </p:cNvPicPr>
          <p:nvPr/>
        </p:nvPicPr>
        <p:blipFill>
          <a:blip r:embed="rId2"/>
          <a:stretch>
            <a:fillRect/>
          </a:stretch>
        </p:blipFill>
        <p:spPr>
          <a:xfrm>
            <a:off x="1090378" y="1690688"/>
            <a:ext cx="10011244" cy="4857750"/>
          </a:xfrm>
          <a:prstGeom prst="rect">
            <a:avLst/>
          </a:prstGeom>
        </p:spPr>
      </p:pic>
      <p:sp>
        <p:nvSpPr>
          <p:cNvPr id="6" name="矩形 5">
            <a:extLst>
              <a:ext uri="{FF2B5EF4-FFF2-40B4-BE49-F238E27FC236}">
                <a16:creationId xmlns:a16="http://schemas.microsoft.com/office/drawing/2014/main" id="{5129A3D4-EA88-D9E4-E3BA-4ACC83FA1E95}"/>
              </a:ext>
            </a:extLst>
          </p:cNvPr>
          <p:cNvSpPr/>
          <p:nvPr/>
        </p:nvSpPr>
        <p:spPr>
          <a:xfrm>
            <a:off x="1020924" y="5619642"/>
            <a:ext cx="6252166" cy="42622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26239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sz="3600" dirty="0"/>
              <a:t>'std::</a:t>
            </a:r>
            <a:r>
              <a:rPr lang="en-US" altLang="zh-TW" sz="3600" dirty="0" err="1"/>
              <a:t>pmr</a:t>
            </a:r>
            <a:r>
              <a:rPr lang="en-US" altLang="zh-TW" sz="3600" dirty="0"/>
              <a:t>::</a:t>
            </a:r>
            <a:r>
              <a:rPr lang="en-US" altLang="zh-TW" sz="3600" dirty="0" err="1"/>
              <a:t>polymorphic_allocator</a:t>
            </a:r>
            <a:r>
              <a:rPr lang="en-US" altLang="zh-TW" sz="3600" dirty="0"/>
              <a:t>&lt;T&gt;' intro</a:t>
            </a:r>
            <a:endParaRPr lang="en-US" altLang="zh-TW" dirty="0"/>
          </a:p>
        </p:txBody>
      </p:sp>
      <p:pic>
        <p:nvPicPr>
          <p:cNvPr id="4" name="圖片 3">
            <a:extLst>
              <a:ext uri="{FF2B5EF4-FFF2-40B4-BE49-F238E27FC236}">
                <a16:creationId xmlns:a16="http://schemas.microsoft.com/office/drawing/2014/main" id="{FA56A016-5768-0EED-38A8-0AE05BB58E17}"/>
              </a:ext>
            </a:extLst>
          </p:cNvPr>
          <p:cNvPicPr>
            <a:picLocks noChangeAspect="1"/>
          </p:cNvPicPr>
          <p:nvPr/>
        </p:nvPicPr>
        <p:blipFill>
          <a:blip r:embed="rId2"/>
          <a:stretch>
            <a:fillRect/>
          </a:stretch>
        </p:blipFill>
        <p:spPr>
          <a:xfrm>
            <a:off x="254000" y="2003819"/>
            <a:ext cx="11684000" cy="3637762"/>
          </a:xfrm>
          <a:prstGeom prst="rect">
            <a:avLst/>
          </a:prstGeom>
        </p:spPr>
      </p:pic>
      <p:sp>
        <p:nvSpPr>
          <p:cNvPr id="6" name="文字方塊 5">
            <a:extLst>
              <a:ext uri="{FF2B5EF4-FFF2-40B4-BE49-F238E27FC236}">
                <a16:creationId xmlns:a16="http://schemas.microsoft.com/office/drawing/2014/main" id="{72699F27-AEFE-CE5D-B4DE-3AA321D3A4AC}"/>
              </a:ext>
            </a:extLst>
          </p:cNvPr>
          <p:cNvSpPr txBox="1"/>
          <p:nvPr/>
        </p:nvSpPr>
        <p:spPr>
          <a:xfrm>
            <a:off x="2189962" y="6123543"/>
            <a:ext cx="7812075" cy="369332"/>
          </a:xfrm>
          <a:prstGeom prst="rect">
            <a:avLst/>
          </a:prstGeom>
          <a:noFill/>
        </p:spPr>
        <p:txBody>
          <a:bodyPr wrap="none" rtlCol="0">
            <a:spAutoFit/>
          </a:bodyPr>
          <a:lstStyle/>
          <a:p>
            <a:r>
              <a:rPr lang="en-US" altLang="zh-TW" dirty="0"/>
              <a:t>(This diagram has been simplified. The actual internal names will be different.)</a:t>
            </a:r>
            <a:endParaRPr lang="zh-TW" altLang="en-US" dirty="0"/>
          </a:p>
        </p:txBody>
      </p:sp>
      <p:sp>
        <p:nvSpPr>
          <p:cNvPr id="11" name="文字方塊 10">
            <a:extLst>
              <a:ext uri="{FF2B5EF4-FFF2-40B4-BE49-F238E27FC236}">
                <a16:creationId xmlns:a16="http://schemas.microsoft.com/office/drawing/2014/main" id="{9E088CCB-4FD2-F9D2-F1CA-25F013F4AE88}"/>
              </a:ext>
            </a:extLst>
          </p:cNvPr>
          <p:cNvSpPr txBox="1"/>
          <p:nvPr/>
        </p:nvSpPr>
        <p:spPr>
          <a:xfrm>
            <a:off x="254000" y="1477922"/>
            <a:ext cx="2357953" cy="369332"/>
          </a:xfrm>
          <a:prstGeom prst="rect">
            <a:avLst/>
          </a:prstGeom>
          <a:noFill/>
        </p:spPr>
        <p:txBody>
          <a:bodyPr wrap="none" rtlCol="0">
            <a:spAutoFit/>
          </a:bodyPr>
          <a:lstStyle/>
          <a:p>
            <a:r>
              <a:rPr lang="en-US" altLang="zh-TW" dirty="0"/>
              <a:t>Architectural Diagram</a:t>
            </a:r>
            <a:endParaRPr lang="zh-TW" altLang="en-US" dirty="0"/>
          </a:p>
        </p:txBody>
      </p:sp>
    </p:spTree>
    <p:extLst>
      <p:ext uri="{BB962C8B-B14F-4D97-AF65-F5344CB8AC3E}">
        <p14:creationId xmlns:p14="http://schemas.microsoft.com/office/powerpoint/2010/main" val="4079609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sz="3600" dirty="0"/>
              <a:t>'std::</a:t>
            </a:r>
            <a:r>
              <a:rPr lang="en-US" altLang="zh-TW" sz="3600" dirty="0" err="1"/>
              <a:t>pmr</a:t>
            </a:r>
            <a:r>
              <a:rPr lang="en-US" altLang="zh-TW" sz="3600" dirty="0"/>
              <a:t>::</a:t>
            </a:r>
            <a:r>
              <a:rPr lang="en-US" altLang="zh-TW" sz="3600" dirty="0" err="1"/>
              <a:t>polymorphic_allocator</a:t>
            </a:r>
            <a:r>
              <a:rPr lang="en-US" altLang="zh-TW" sz="3600" dirty="0"/>
              <a:t>&lt;T&gt;' intro</a:t>
            </a:r>
            <a:endParaRPr lang="en-US" altLang="zh-TW" dirty="0"/>
          </a:p>
        </p:txBody>
      </p:sp>
      <p:sp>
        <p:nvSpPr>
          <p:cNvPr id="11" name="文字方塊 10">
            <a:extLst>
              <a:ext uri="{FF2B5EF4-FFF2-40B4-BE49-F238E27FC236}">
                <a16:creationId xmlns:a16="http://schemas.microsoft.com/office/drawing/2014/main" id="{9E088CCB-4FD2-F9D2-F1CA-25F013F4AE88}"/>
              </a:ext>
            </a:extLst>
          </p:cNvPr>
          <p:cNvSpPr txBox="1"/>
          <p:nvPr/>
        </p:nvSpPr>
        <p:spPr>
          <a:xfrm>
            <a:off x="838200" y="1904236"/>
            <a:ext cx="6801414" cy="369332"/>
          </a:xfrm>
          <a:prstGeom prst="rect">
            <a:avLst/>
          </a:prstGeom>
          <a:noFill/>
        </p:spPr>
        <p:txBody>
          <a:bodyPr wrap="none" rtlCol="0">
            <a:spAutoFit/>
          </a:bodyPr>
          <a:lstStyle/>
          <a:p>
            <a:r>
              <a:rPr lang="en-US" altLang="zh-TW" dirty="0" err="1"/>
              <a:t>VecA</a:t>
            </a:r>
            <a:r>
              <a:rPr lang="en-US" altLang="zh-TW" dirty="0"/>
              <a:t> and </a:t>
            </a:r>
            <a:r>
              <a:rPr lang="en-US" altLang="zh-TW" dirty="0" err="1"/>
              <a:t>VecB</a:t>
            </a:r>
            <a:r>
              <a:rPr lang="en-US" altLang="zh-TW" dirty="0"/>
              <a:t> are different types, but v1 and v2 are the same type.</a:t>
            </a:r>
            <a:endParaRPr lang="zh-TW" altLang="en-US" dirty="0"/>
          </a:p>
        </p:txBody>
      </p:sp>
      <p:pic>
        <p:nvPicPr>
          <p:cNvPr id="5" name="圖片 4">
            <a:extLst>
              <a:ext uri="{FF2B5EF4-FFF2-40B4-BE49-F238E27FC236}">
                <a16:creationId xmlns:a16="http://schemas.microsoft.com/office/drawing/2014/main" id="{1EB9648B-9A7B-9C42-E3DD-2D75196599F6}"/>
              </a:ext>
            </a:extLst>
          </p:cNvPr>
          <p:cNvPicPr>
            <a:picLocks noChangeAspect="1"/>
          </p:cNvPicPr>
          <p:nvPr/>
        </p:nvPicPr>
        <p:blipFill>
          <a:blip r:embed="rId2"/>
          <a:stretch>
            <a:fillRect/>
          </a:stretch>
        </p:blipFill>
        <p:spPr>
          <a:xfrm>
            <a:off x="968235" y="2487116"/>
            <a:ext cx="10255530" cy="2533470"/>
          </a:xfrm>
          <a:prstGeom prst="rect">
            <a:avLst/>
          </a:prstGeom>
        </p:spPr>
      </p:pic>
      <p:sp>
        <p:nvSpPr>
          <p:cNvPr id="7" name="文字方塊 6">
            <a:extLst>
              <a:ext uri="{FF2B5EF4-FFF2-40B4-BE49-F238E27FC236}">
                <a16:creationId xmlns:a16="http://schemas.microsoft.com/office/drawing/2014/main" id="{DF16C054-D0DB-C618-039F-2544105EADE6}"/>
              </a:ext>
            </a:extLst>
          </p:cNvPr>
          <p:cNvSpPr txBox="1"/>
          <p:nvPr/>
        </p:nvSpPr>
        <p:spPr>
          <a:xfrm>
            <a:off x="1348931" y="5234134"/>
            <a:ext cx="9494138" cy="369332"/>
          </a:xfrm>
          <a:prstGeom prst="rect">
            <a:avLst/>
          </a:prstGeom>
          <a:noFill/>
        </p:spPr>
        <p:txBody>
          <a:bodyPr wrap="none" rtlCol="0">
            <a:spAutoFit/>
          </a:bodyPr>
          <a:lstStyle/>
          <a:p>
            <a:r>
              <a:rPr lang="en-US" altLang="zh-TW" dirty="0"/>
              <a:t>('std::</a:t>
            </a:r>
            <a:r>
              <a:rPr lang="en-US" altLang="zh-TW" dirty="0" err="1"/>
              <a:t>pmr</a:t>
            </a:r>
            <a:r>
              <a:rPr lang="en-US" altLang="zh-TW" dirty="0"/>
              <a:t>::vector' is an abbreviation for 'std::vector&lt;int, std::</a:t>
            </a:r>
            <a:r>
              <a:rPr lang="en-US" altLang="zh-TW" dirty="0" err="1"/>
              <a:t>pmr</a:t>
            </a:r>
            <a:r>
              <a:rPr lang="en-US" altLang="zh-TW" dirty="0"/>
              <a:t>::</a:t>
            </a:r>
            <a:r>
              <a:rPr lang="en-US" altLang="zh-TW" dirty="0" err="1"/>
              <a:t>polymorphic_allocator</a:t>
            </a:r>
            <a:r>
              <a:rPr lang="en-US" altLang="zh-TW" dirty="0"/>
              <a:t>&lt;int&gt;')</a:t>
            </a:r>
            <a:endParaRPr lang="zh-TW" altLang="en-US" dirty="0"/>
          </a:p>
        </p:txBody>
      </p:sp>
    </p:spTree>
    <p:extLst>
      <p:ext uri="{BB962C8B-B14F-4D97-AF65-F5344CB8AC3E}">
        <p14:creationId xmlns:p14="http://schemas.microsoft.com/office/powerpoint/2010/main" val="2851601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sz="3600" dirty="0"/>
              <a:t>'std::</a:t>
            </a:r>
            <a:r>
              <a:rPr lang="en-US" altLang="zh-TW" sz="3600" dirty="0" err="1"/>
              <a:t>pmr</a:t>
            </a:r>
            <a:r>
              <a:rPr lang="en-US" altLang="zh-TW" sz="3600" dirty="0"/>
              <a:t>::</a:t>
            </a:r>
            <a:r>
              <a:rPr lang="en-US" altLang="zh-TW" sz="3600" dirty="0" err="1"/>
              <a:t>polymorphic_allocator</a:t>
            </a:r>
            <a:r>
              <a:rPr lang="en-US" altLang="zh-TW" sz="3600" dirty="0"/>
              <a:t>&lt;T&gt;' intro</a:t>
            </a:r>
          </a:p>
        </p:txBody>
      </p:sp>
      <p:pic>
        <p:nvPicPr>
          <p:cNvPr id="10" name="圖片 9">
            <a:extLst>
              <a:ext uri="{FF2B5EF4-FFF2-40B4-BE49-F238E27FC236}">
                <a16:creationId xmlns:a16="http://schemas.microsoft.com/office/drawing/2014/main" id="{B13C35DC-9FA1-58D4-8240-90E1ABFEF0D2}"/>
              </a:ext>
            </a:extLst>
          </p:cNvPr>
          <p:cNvPicPr>
            <a:picLocks noChangeAspect="1"/>
          </p:cNvPicPr>
          <p:nvPr/>
        </p:nvPicPr>
        <p:blipFill>
          <a:blip r:embed="rId2"/>
          <a:stretch>
            <a:fillRect/>
          </a:stretch>
        </p:blipFill>
        <p:spPr>
          <a:xfrm>
            <a:off x="254000" y="2019574"/>
            <a:ext cx="7699375" cy="3711301"/>
          </a:xfrm>
          <a:prstGeom prst="rect">
            <a:avLst/>
          </a:prstGeom>
        </p:spPr>
      </p:pic>
      <p:sp>
        <p:nvSpPr>
          <p:cNvPr id="3" name="文字方塊 2">
            <a:extLst>
              <a:ext uri="{FF2B5EF4-FFF2-40B4-BE49-F238E27FC236}">
                <a16:creationId xmlns:a16="http://schemas.microsoft.com/office/drawing/2014/main" id="{703449FA-DE5E-9237-BE97-A667AF1CF641}"/>
              </a:ext>
            </a:extLst>
          </p:cNvPr>
          <p:cNvSpPr txBox="1"/>
          <p:nvPr/>
        </p:nvSpPr>
        <p:spPr>
          <a:xfrm>
            <a:off x="254000" y="1477922"/>
            <a:ext cx="5247462" cy="369332"/>
          </a:xfrm>
          <a:prstGeom prst="rect">
            <a:avLst/>
          </a:prstGeom>
          <a:noFill/>
        </p:spPr>
        <p:txBody>
          <a:bodyPr wrap="none" rtlCol="0">
            <a:spAutoFit/>
          </a:bodyPr>
          <a:lstStyle/>
          <a:p>
            <a:r>
              <a:rPr lang="en-US" altLang="zh-TW" dirty="0"/>
              <a:t>Make our own </a:t>
            </a:r>
            <a:r>
              <a:rPr lang="en-US" altLang="zh-TW" sz="1800" dirty="0" err="1"/>
              <a:t>polymorphic_allocator</a:t>
            </a:r>
            <a:r>
              <a:rPr lang="en-US" altLang="zh-TW" sz="1800" dirty="0"/>
              <a:t> (</a:t>
            </a:r>
            <a:r>
              <a:rPr lang="en-US" altLang="zh-TW" sz="1800" dirty="0">
                <a:hlinkClick r:id="rId3"/>
              </a:rPr>
              <a:t>Godbolt link</a:t>
            </a:r>
            <a:r>
              <a:rPr lang="en-US" altLang="zh-TW" sz="1800" dirty="0"/>
              <a:t>)</a:t>
            </a:r>
            <a:endParaRPr lang="zh-TW" altLang="en-US" dirty="0"/>
          </a:p>
        </p:txBody>
      </p:sp>
      <p:pic>
        <p:nvPicPr>
          <p:cNvPr id="7" name="圖片 6">
            <a:extLst>
              <a:ext uri="{FF2B5EF4-FFF2-40B4-BE49-F238E27FC236}">
                <a16:creationId xmlns:a16="http://schemas.microsoft.com/office/drawing/2014/main" id="{CA9A4376-AF33-BCEF-0D6F-CEBED64EEEC1}"/>
              </a:ext>
            </a:extLst>
          </p:cNvPr>
          <p:cNvPicPr>
            <a:picLocks noChangeAspect="1"/>
          </p:cNvPicPr>
          <p:nvPr/>
        </p:nvPicPr>
        <p:blipFill>
          <a:blip r:embed="rId4"/>
          <a:stretch>
            <a:fillRect/>
          </a:stretch>
        </p:blipFill>
        <p:spPr>
          <a:xfrm>
            <a:off x="6911240" y="4046063"/>
            <a:ext cx="5096610" cy="2115139"/>
          </a:xfrm>
          <a:prstGeom prst="rect">
            <a:avLst/>
          </a:prstGeom>
        </p:spPr>
      </p:pic>
    </p:spTree>
    <p:extLst>
      <p:ext uri="{BB962C8B-B14F-4D97-AF65-F5344CB8AC3E}">
        <p14:creationId xmlns:p14="http://schemas.microsoft.com/office/powerpoint/2010/main" val="4181784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sz="3600" dirty="0"/>
              <a:t>'std::</a:t>
            </a:r>
            <a:r>
              <a:rPr lang="en-US" altLang="zh-TW" sz="3600" dirty="0" err="1"/>
              <a:t>pmr</a:t>
            </a:r>
            <a:r>
              <a:rPr lang="en-US" altLang="zh-TW" sz="3600" dirty="0"/>
              <a:t>::</a:t>
            </a:r>
            <a:r>
              <a:rPr lang="en-US" altLang="zh-TW" sz="3600" dirty="0" err="1"/>
              <a:t>polymorphic_allocator</a:t>
            </a:r>
            <a:r>
              <a:rPr lang="en-US" altLang="zh-TW" sz="3600" dirty="0"/>
              <a:t>&lt;T&gt;' intro</a:t>
            </a:r>
          </a:p>
        </p:txBody>
      </p:sp>
      <p:pic>
        <p:nvPicPr>
          <p:cNvPr id="5" name="圖片 4">
            <a:extLst>
              <a:ext uri="{FF2B5EF4-FFF2-40B4-BE49-F238E27FC236}">
                <a16:creationId xmlns:a16="http://schemas.microsoft.com/office/drawing/2014/main" id="{0ED34780-E476-6F15-32B0-902C516468DA}"/>
              </a:ext>
            </a:extLst>
          </p:cNvPr>
          <p:cNvPicPr>
            <a:picLocks noChangeAspect="1"/>
          </p:cNvPicPr>
          <p:nvPr/>
        </p:nvPicPr>
        <p:blipFill>
          <a:blip r:embed="rId2"/>
          <a:stretch>
            <a:fillRect/>
          </a:stretch>
        </p:blipFill>
        <p:spPr>
          <a:xfrm>
            <a:off x="5658621" y="2013304"/>
            <a:ext cx="6368279" cy="2821848"/>
          </a:xfrm>
          <a:prstGeom prst="rect">
            <a:avLst/>
          </a:prstGeom>
        </p:spPr>
      </p:pic>
      <p:pic>
        <p:nvPicPr>
          <p:cNvPr id="8" name="圖片 7">
            <a:extLst>
              <a:ext uri="{FF2B5EF4-FFF2-40B4-BE49-F238E27FC236}">
                <a16:creationId xmlns:a16="http://schemas.microsoft.com/office/drawing/2014/main" id="{0CB7716F-AB8F-F7C6-B333-1D7C63B6EFEC}"/>
              </a:ext>
            </a:extLst>
          </p:cNvPr>
          <p:cNvPicPr>
            <a:picLocks noChangeAspect="1"/>
          </p:cNvPicPr>
          <p:nvPr/>
        </p:nvPicPr>
        <p:blipFill>
          <a:blip r:embed="rId3"/>
          <a:stretch>
            <a:fillRect/>
          </a:stretch>
        </p:blipFill>
        <p:spPr>
          <a:xfrm>
            <a:off x="165100" y="2608928"/>
            <a:ext cx="5416550" cy="1630600"/>
          </a:xfrm>
          <a:prstGeom prst="rect">
            <a:avLst/>
          </a:prstGeom>
        </p:spPr>
      </p:pic>
      <p:sp>
        <p:nvSpPr>
          <p:cNvPr id="9" name="文字方塊 8">
            <a:extLst>
              <a:ext uri="{FF2B5EF4-FFF2-40B4-BE49-F238E27FC236}">
                <a16:creationId xmlns:a16="http://schemas.microsoft.com/office/drawing/2014/main" id="{C1111198-BA7E-24AF-2A49-9E8CC2DC301B}"/>
              </a:ext>
            </a:extLst>
          </p:cNvPr>
          <p:cNvSpPr txBox="1"/>
          <p:nvPr/>
        </p:nvSpPr>
        <p:spPr>
          <a:xfrm>
            <a:off x="2253205" y="4239528"/>
            <a:ext cx="1240340" cy="369332"/>
          </a:xfrm>
          <a:prstGeom prst="rect">
            <a:avLst/>
          </a:prstGeom>
          <a:noFill/>
        </p:spPr>
        <p:txBody>
          <a:bodyPr wrap="none" rtlCol="0">
            <a:spAutoFit/>
          </a:bodyPr>
          <a:lstStyle/>
          <a:p>
            <a:r>
              <a:rPr lang="en-US" altLang="zh-TW" dirty="0" err="1"/>
              <a:t>uftrace</a:t>
            </a:r>
            <a:r>
              <a:rPr lang="en-US" altLang="zh-TW" dirty="0"/>
              <a:t> log</a:t>
            </a:r>
            <a:endParaRPr lang="zh-TW" altLang="en-US" dirty="0"/>
          </a:p>
        </p:txBody>
      </p:sp>
    </p:spTree>
    <p:extLst>
      <p:ext uri="{BB962C8B-B14F-4D97-AF65-F5344CB8AC3E}">
        <p14:creationId xmlns:p14="http://schemas.microsoft.com/office/powerpoint/2010/main" val="1379657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memory resource usage</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Standard provides five types of memory resources.</a:t>
            </a:r>
          </a:p>
          <a:p>
            <a:pPr lvl="1"/>
            <a:r>
              <a:rPr lang="en-US" altLang="zh-TW" dirty="0"/>
              <a:t>'</a:t>
            </a:r>
            <a:r>
              <a:rPr lang="en-US" altLang="zh-TW" dirty="0" err="1"/>
              <a:t>new_delete_resource</a:t>
            </a:r>
            <a:r>
              <a:rPr lang="en-US" altLang="zh-TW" dirty="0"/>
              <a:t>()'</a:t>
            </a:r>
          </a:p>
          <a:p>
            <a:pPr lvl="1"/>
            <a:r>
              <a:rPr lang="en-US" altLang="zh-TW" dirty="0"/>
              <a:t>'</a:t>
            </a:r>
            <a:r>
              <a:rPr lang="en-US" altLang="zh-TW" dirty="0" err="1"/>
              <a:t>synchronized_pool_resource</a:t>
            </a:r>
            <a:r>
              <a:rPr lang="en-US" altLang="zh-TW" dirty="0"/>
              <a:t>'</a:t>
            </a:r>
          </a:p>
          <a:p>
            <a:pPr lvl="1"/>
            <a:r>
              <a:rPr lang="en-US" altLang="zh-TW" dirty="0"/>
              <a:t>'</a:t>
            </a:r>
            <a:r>
              <a:rPr lang="en-US" altLang="zh-TW" b="0" i="0" dirty="0" err="1">
                <a:effectLst/>
                <a:latin typeface="ui-monospace"/>
              </a:rPr>
              <a:t>unsynchronized_pool_resource</a:t>
            </a:r>
            <a:r>
              <a:rPr lang="en-US" altLang="zh-TW" dirty="0"/>
              <a:t>'</a:t>
            </a:r>
          </a:p>
          <a:p>
            <a:pPr lvl="1"/>
            <a:r>
              <a:rPr lang="en-US" altLang="zh-TW" dirty="0"/>
              <a:t>'</a:t>
            </a:r>
            <a:r>
              <a:rPr lang="en-US" altLang="zh-TW" b="0" i="0" dirty="0" err="1">
                <a:effectLst/>
                <a:latin typeface="ui-monospace"/>
              </a:rPr>
              <a:t>monotonic_buffer_resource</a:t>
            </a:r>
            <a:r>
              <a:rPr lang="en-US" altLang="zh-TW" dirty="0"/>
              <a:t>'</a:t>
            </a:r>
          </a:p>
          <a:p>
            <a:pPr lvl="1"/>
            <a:r>
              <a:rPr lang="en-US" altLang="zh-TW" dirty="0"/>
              <a:t>'</a:t>
            </a:r>
            <a:r>
              <a:rPr lang="en-US" altLang="zh-TW" b="0" i="0" dirty="0" err="1">
                <a:effectLst/>
                <a:latin typeface="ui-monospace"/>
              </a:rPr>
              <a:t>null_memory_resource</a:t>
            </a:r>
            <a:r>
              <a:rPr lang="en-US" altLang="zh-TW" dirty="0">
                <a:latin typeface="ui-monospace"/>
              </a:rPr>
              <a:t>()</a:t>
            </a:r>
            <a:r>
              <a:rPr lang="en-US" altLang="zh-TW" dirty="0"/>
              <a:t>'</a:t>
            </a:r>
          </a:p>
          <a:p>
            <a:r>
              <a:rPr lang="en-US" altLang="zh-TW" dirty="0"/>
              <a:t>Use '</a:t>
            </a:r>
            <a:r>
              <a:rPr lang="en-US" altLang="zh-TW" b="0" i="0" dirty="0" err="1">
                <a:effectLst/>
                <a:latin typeface="ui-monospace"/>
              </a:rPr>
              <a:t>get_default_resource</a:t>
            </a:r>
            <a:r>
              <a:rPr lang="en-US" altLang="zh-TW" b="0" i="0" dirty="0">
                <a:effectLst/>
                <a:latin typeface="ui-monospace"/>
              </a:rPr>
              <a:t>()</a:t>
            </a:r>
            <a:r>
              <a:rPr lang="en-US" altLang="zh-TW" dirty="0"/>
              <a:t>' to get the default memory resource</a:t>
            </a:r>
          </a:p>
          <a:p>
            <a:r>
              <a:rPr lang="en-US" altLang="zh-TW" dirty="0"/>
              <a:t>Use '</a:t>
            </a:r>
            <a:r>
              <a:rPr lang="en-US" altLang="zh-TW" dirty="0" err="1"/>
              <a:t>set_default_resource</a:t>
            </a:r>
            <a:r>
              <a:rPr lang="en-US" altLang="zh-TW" dirty="0"/>
              <a:t>()' to set the default memory resource</a:t>
            </a:r>
          </a:p>
          <a:p>
            <a:r>
              <a:rPr lang="en-US" altLang="zh-TW" dirty="0"/>
              <a:t>Care about the lifecycle of your memory pool instance</a:t>
            </a:r>
          </a:p>
        </p:txBody>
      </p:sp>
    </p:spTree>
    <p:extLst>
      <p:ext uri="{BB962C8B-B14F-4D97-AF65-F5344CB8AC3E}">
        <p14:creationId xmlns:p14="http://schemas.microsoft.com/office/powerpoint/2010/main" val="82118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dirty="0" err="1"/>
              <a:t>new_delete_resource</a:t>
            </a:r>
            <a:r>
              <a:rPr lang="en-US" altLang="zh-TW" dirty="0"/>
              <a:t>()'</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Default memory resource</a:t>
            </a:r>
          </a:p>
          <a:p>
            <a:r>
              <a:rPr lang="en-US" altLang="zh-TW" dirty="0"/>
              <a:t>'allocate()' use '::operator new'</a:t>
            </a:r>
          </a:p>
          <a:p>
            <a:r>
              <a:rPr lang="en-US" altLang="zh-TW" dirty="0"/>
              <a:t>'deallocate()' use '::operator delete'</a:t>
            </a:r>
          </a:p>
        </p:txBody>
      </p:sp>
    </p:spTree>
    <p:extLst>
      <p:ext uri="{BB962C8B-B14F-4D97-AF65-F5344CB8AC3E}">
        <p14:creationId xmlns:p14="http://schemas.microsoft.com/office/powerpoint/2010/main" val="1581556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dirty="0" err="1"/>
              <a:t>null_memory_resource</a:t>
            </a:r>
            <a:r>
              <a:rPr lang="en-US" altLang="zh-TW" dirty="0"/>
              <a:t>()'</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Throw a '</a:t>
            </a:r>
            <a:r>
              <a:rPr lang="en-US" altLang="zh-TW" dirty="0" err="1"/>
              <a:t>bad_alloc</a:t>
            </a:r>
            <a:r>
              <a:rPr lang="en-US" altLang="zh-TW" dirty="0"/>
              <a:t>' exception when allocation</a:t>
            </a:r>
          </a:p>
          <a:p>
            <a:r>
              <a:rPr lang="en-US" altLang="zh-TW" dirty="0"/>
              <a:t>Use to ensure no memory is unexpectedly allocated on heap.</a:t>
            </a:r>
          </a:p>
        </p:txBody>
      </p:sp>
    </p:spTree>
    <p:extLst>
      <p:ext uri="{BB962C8B-B14F-4D97-AF65-F5344CB8AC3E}">
        <p14:creationId xmlns:p14="http://schemas.microsoft.com/office/powerpoint/2010/main" val="429779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a:t>
            </a:r>
            <a:r>
              <a:rPr lang="en-US" altLang="zh-TW" dirty="0" err="1"/>
              <a:t>monotonic_buffer_resource</a:t>
            </a:r>
            <a:r>
              <a:rPr lang="en-US" altLang="zh-TW" dirty="0"/>
              <a:t>'</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A buffer can be passed in as its memory pool</a:t>
            </a:r>
          </a:p>
          <a:p>
            <a:r>
              <a:rPr lang="en-US" altLang="zh-TW" b="0" i="0" dirty="0">
                <a:effectLst/>
                <a:latin typeface="Inter"/>
              </a:rPr>
              <a:t>Bump Allocator</a:t>
            </a:r>
          </a:p>
          <a:p>
            <a:pPr lvl="1"/>
            <a:r>
              <a:rPr lang="en-US" altLang="zh-TW" dirty="0"/>
              <a:t>Allocate memory using a monotonically increasing approach</a:t>
            </a:r>
          </a:p>
          <a:p>
            <a:r>
              <a:rPr lang="en-US" altLang="zh-TW" dirty="0"/>
              <a:t>Deallocate actually does nothing.</a:t>
            </a:r>
          </a:p>
          <a:p>
            <a:r>
              <a:rPr lang="en-US" altLang="zh-TW" dirty="0"/>
              <a:t>Very quickly</a:t>
            </a:r>
          </a:p>
          <a:p>
            <a:r>
              <a:rPr lang="en-US" altLang="zh-TW" dirty="0"/>
              <a:t>Can request additional memory from upstream</a:t>
            </a:r>
          </a:p>
          <a:p>
            <a:r>
              <a:rPr lang="en-US" altLang="zh-TW" dirty="0"/>
              <a:t>Thread unsafe</a:t>
            </a:r>
          </a:p>
        </p:txBody>
      </p:sp>
    </p:spTree>
    <p:extLst>
      <p:ext uri="{BB962C8B-B14F-4D97-AF65-F5344CB8AC3E}">
        <p14:creationId xmlns:p14="http://schemas.microsoft.com/office/powerpoint/2010/main" val="1404630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'(un)</a:t>
            </a:r>
            <a:r>
              <a:rPr lang="en-US" altLang="zh-TW" dirty="0" err="1"/>
              <a:t>synchronized_pool_resource</a:t>
            </a:r>
            <a:r>
              <a:rPr lang="en-US" altLang="zh-TW" dirty="0"/>
              <a:t>'</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The '(un)' mean the thread-unsafe version</a:t>
            </a:r>
          </a:p>
          <a:p>
            <a:pPr lvl="1"/>
            <a:r>
              <a:rPr lang="en-US" altLang="zh-TW" dirty="0"/>
              <a:t>Apart from this, they are identical.</a:t>
            </a:r>
          </a:p>
          <a:p>
            <a:r>
              <a:rPr lang="en-US" altLang="zh-TW" dirty="0"/>
              <a:t>Abbreviate to "</a:t>
            </a:r>
            <a:r>
              <a:rPr lang="en-US" altLang="zh-TW" b="0" i="0" dirty="0">
                <a:effectLst/>
                <a:latin typeface="Inter"/>
              </a:rPr>
              <a:t>pool resource</a:t>
            </a:r>
            <a:r>
              <a:rPr lang="en-US" altLang="zh-TW" dirty="0"/>
              <a:t>"</a:t>
            </a:r>
          </a:p>
          <a:p>
            <a:r>
              <a:rPr lang="en-US" altLang="zh-TW" dirty="0"/>
              <a:t>Requires another memory resource as an upstream resource</a:t>
            </a:r>
          </a:p>
          <a:p>
            <a:r>
              <a:rPr lang="en-US" altLang="zh-TW" dirty="0"/>
              <a:t>Trying to reduce fragmentation</a:t>
            </a:r>
          </a:p>
          <a:p>
            <a:r>
              <a:rPr lang="en-US" altLang="zh-TW" dirty="0"/>
              <a:t>Dividing memory into multiple fixed-size pools</a:t>
            </a:r>
          </a:p>
          <a:p>
            <a:r>
              <a:rPr lang="en-US" altLang="zh-TW" dirty="0"/>
              <a:t>Standard does not specify how buffers should be allocated.</a:t>
            </a:r>
          </a:p>
        </p:txBody>
      </p:sp>
    </p:spTree>
    <p:extLst>
      <p:ext uri="{BB962C8B-B14F-4D97-AF65-F5344CB8AC3E}">
        <p14:creationId xmlns:p14="http://schemas.microsoft.com/office/powerpoint/2010/main" val="1568745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2858C874-91B1-718C-B3FB-6BC5D4D2A7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4913" y="385763"/>
            <a:ext cx="9782175" cy="608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8187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custom memory resource</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dirty="0"/>
              <a:t>No longer implement various allocator.</a:t>
            </a:r>
          </a:p>
          <a:p>
            <a:r>
              <a:rPr lang="en-US" altLang="zh-TW" dirty="0"/>
              <a:t>Now we create our own memory resource</a:t>
            </a:r>
          </a:p>
          <a:p>
            <a:pPr lvl="1"/>
            <a:r>
              <a:rPr lang="en-US" altLang="zh-TW" dirty="0"/>
              <a:t>Then pass it to 'std::</a:t>
            </a:r>
            <a:r>
              <a:rPr lang="en-US" altLang="zh-TW" dirty="0" err="1"/>
              <a:t>pmr</a:t>
            </a:r>
            <a:r>
              <a:rPr lang="en-US" altLang="zh-TW" dirty="0"/>
              <a:t>::</a:t>
            </a:r>
            <a:r>
              <a:rPr lang="en-US" altLang="zh-TW" dirty="0" err="1"/>
              <a:t>polymorphic_allocator</a:t>
            </a:r>
            <a:r>
              <a:rPr lang="en-US" altLang="zh-TW" dirty="0"/>
              <a:t>'</a:t>
            </a:r>
          </a:p>
          <a:p>
            <a:r>
              <a:rPr lang="en-US" altLang="zh-TW" dirty="0"/>
              <a:t>2 steps:</a:t>
            </a:r>
          </a:p>
          <a:p>
            <a:pPr lvl="1"/>
            <a:r>
              <a:rPr lang="en-US" altLang="zh-TW" dirty="0"/>
              <a:t>Inherit from 'std::</a:t>
            </a:r>
            <a:r>
              <a:rPr lang="en-US" altLang="zh-TW" dirty="0" err="1"/>
              <a:t>pmr</a:t>
            </a:r>
            <a:r>
              <a:rPr lang="en-US" altLang="zh-TW" dirty="0"/>
              <a:t>::</a:t>
            </a:r>
            <a:r>
              <a:rPr lang="en-US" altLang="zh-TW" dirty="0" err="1"/>
              <a:t>memory_resource</a:t>
            </a:r>
            <a:r>
              <a:rPr lang="en-US" altLang="zh-TW" dirty="0"/>
              <a:t>'</a:t>
            </a:r>
          </a:p>
          <a:p>
            <a:pPr lvl="1"/>
            <a:r>
              <a:rPr lang="en-US" altLang="zh-TW" dirty="0"/>
              <a:t>Implement the following three private member functions:</a:t>
            </a:r>
          </a:p>
          <a:p>
            <a:pPr lvl="2"/>
            <a:r>
              <a:rPr lang="en-US" altLang="zh-TW" b="0" i="0" dirty="0">
                <a:effectLst/>
                <a:latin typeface="ui-monospace"/>
              </a:rPr>
              <a:t>'void* </a:t>
            </a:r>
            <a:r>
              <a:rPr lang="en-US" altLang="zh-TW" b="0" i="0" dirty="0" err="1">
                <a:effectLst/>
                <a:latin typeface="ui-monospace"/>
              </a:rPr>
              <a:t>do_allocate</a:t>
            </a:r>
            <a:r>
              <a:rPr lang="en-US" altLang="zh-TW" b="0" i="0" dirty="0">
                <a:effectLst/>
                <a:latin typeface="ui-monospace"/>
              </a:rPr>
              <a:t>(</a:t>
            </a:r>
            <a:r>
              <a:rPr lang="en-US" altLang="zh-TW" b="0" i="0" dirty="0" err="1">
                <a:effectLst/>
                <a:latin typeface="ui-monospace"/>
              </a:rPr>
              <a:t>size_t</a:t>
            </a:r>
            <a:r>
              <a:rPr lang="en-US" altLang="zh-TW" b="0" i="0" dirty="0">
                <a:effectLst/>
                <a:latin typeface="ui-monospace"/>
              </a:rPr>
              <a:t>, </a:t>
            </a:r>
            <a:r>
              <a:rPr lang="en-US" altLang="zh-TW" b="0" i="0" dirty="0" err="1">
                <a:effectLst/>
                <a:latin typeface="ui-monospace"/>
              </a:rPr>
              <a:t>size_t</a:t>
            </a:r>
            <a:r>
              <a:rPr lang="en-US" altLang="zh-TW" b="0" i="0" dirty="0">
                <a:effectLst/>
                <a:latin typeface="ui-monospace"/>
              </a:rPr>
              <a:t>)'</a:t>
            </a:r>
          </a:p>
          <a:p>
            <a:pPr lvl="2"/>
            <a:r>
              <a:rPr lang="en-US" altLang="zh-TW" dirty="0">
                <a:latin typeface="ui-monospace"/>
              </a:rPr>
              <a:t>'</a:t>
            </a:r>
            <a:r>
              <a:rPr lang="en-US" altLang="zh-TW" b="0" i="0" dirty="0">
                <a:effectLst/>
                <a:latin typeface="ui-monospace"/>
              </a:rPr>
              <a:t>void </a:t>
            </a:r>
            <a:r>
              <a:rPr lang="en-US" altLang="zh-TW" b="0" i="0" dirty="0" err="1">
                <a:effectLst/>
                <a:latin typeface="ui-monospace"/>
              </a:rPr>
              <a:t>do_deallocate</a:t>
            </a:r>
            <a:r>
              <a:rPr lang="en-US" altLang="zh-TW" b="0" i="0" dirty="0">
                <a:effectLst/>
                <a:latin typeface="ui-monospace"/>
              </a:rPr>
              <a:t>(void*, </a:t>
            </a:r>
            <a:r>
              <a:rPr lang="en-US" altLang="zh-TW" b="0" i="0" dirty="0" err="1">
                <a:effectLst/>
                <a:latin typeface="ui-monospace"/>
              </a:rPr>
              <a:t>size_t</a:t>
            </a:r>
            <a:r>
              <a:rPr lang="en-US" altLang="zh-TW" b="0" i="0" dirty="0">
                <a:effectLst/>
                <a:latin typeface="ui-monospace"/>
              </a:rPr>
              <a:t>, </a:t>
            </a:r>
            <a:r>
              <a:rPr lang="en-US" altLang="zh-TW" b="0" i="0" dirty="0" err="1">
                <a:effectLst/>
                <a:latin typeface="ui-monospace"/>
              </a:rPr>
              <a:t>size_t</a:t>
            </a:r>
            <a:r>
              <a:rPr lang="en-US" altLang="zh-TW" b="0" i="0" dirty="0">
                <a:effectLst/>
                <a:latin typeface="ui-monospace"/>
              </a:rPr>
              <a:t>)</a:t>
            </a:r>
            <a:r>
              <a:rPr lang="en-US" altLang="zh-TW" dirty="0">
                <a:latin typeface="ui-monospace"/>
              </a:rPr>
              <a:t>'</a:t>
            </a:r>
          </a:p>
          <a:p>
            <a:pPr lvl="2"/>
            <a:r>
              <a:rPr lang="en-US" altLang="zh-TW" dirty="0">
                <a:latin typeface="ui-monospace"/>
              </a:rPr>
              <a:t>'</a:t>
            </a:r>
            <a:r>
              <a:rPr lang="en-US" altLang="zh-TW" b="0" i="0" dirty="0">
                <a:effectLst/>
                <a:latin typeface="ui-monospace"/>
              </a:rPr>
              <a:t>bool </a:t>
            </a:r>
            <a:r>
              <a:rPr lang="en-US" altLang="zh-TW" b="0" i="0" dirty="0" err="1">
                <a:effectLst/>
                <a:latin typeface="ui-monospace"/>
              </a:rPr>
              <a:t>do_is_equal</a:t>
            </a:r>
            <a:r>
              <a:rPr lang="en-US" altLang="zh-TW" b="0" i="0" dirty="0">
                <a:effectLst/>
                <a:latin typeface="ui-monospace"/>
              </a:rPr>
              <a:t>(</a:t>
            </a:r>
            <a:r>
              <a:rPr lang="en-US" altLang="zh-TW" b="0" i="0" dirty="0" err="1">
                <a:effectLst/>
                <a:latin typeface="ui-monospace"/>
              </a:rPr>
              <a:t>memory_resource</a:t>
            </a:r>
            <a:r>
              <a:rPr lang="en-US" altLang="zh-TW" b="0" i="0" dirty="0">
                <a:effectLst/>
                <a:latin typeface="ui-monospace"/>
              </a:rPr>
              <a:t> const&amp;) const </a:t>
            </a:r>
            <a:r>
              <a:rPr lang="en-US" altLang="zh-TW" b="0" i="0" dirty="0" err="1">
                <a:effectLst/>
                <a:latin typeface="ui-monospace"/>
              </a:rPr>
              <a:t>noexcept</a:t>
            </a:r>
            <a:r>
              <a:rPr lang="en-US" altLang="zh-TW" dirty="0">
                <a:latin typeface="ui-monospace"/>
              </a:rPr>
              <a:t>'</a:t>
            </a:r>
            <a:endParaRPr lang="en-US" altLang="zh-TW" dirty="0"/>
          </a:p>
        </p:txBody>
      </p:sp>
    </p:spTree>
    <p:extLst>
      <p:ext uri="{BB962C8B-B14F-4D97-AF65-F5344CB8AC3E}">
        <p14:creationId xmlns:p14="http://schemas.microsoft.com/office/powerpoint/2010/main" val="2322817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PMR: custom memory resource</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0515600" cy="4857917"/>
          </a:xfrm>
        </p:spPr>
        <p:txBody>
          <a:bodyPr>
            <a:normAutofit/>
          </a:bodyPr>
          <a:lstStyle/>
          <a:p>
            <a:r>
              <a:rPr lang="en-US" altLang="zh-TW" b="0" i="0" dirty="0">
                <a:effectLst/>
                <a:latin typeface="ui-monospace"/>
              </a:rPr>
              <a:t>'void* </a:t>
            </a:r>
            <a:r>
              <a:rPr lang="en-US" altLang="zh-TW" b="0" i="0" dirty="0" err="1">
                <a:effectLst/>
                <a:latin typeface="ui-monospace"/>
              </a:rPr>
              <a:t>do_allocate</a:t>
            </a:r>
            <a:r>
              <a:rPr lang="en-US" altLang="zh-TW" b="0" i="0" dirty="0">
                <a:effectLst/>
                <a:latin typeface="ui-monospace"/>
              </a:rPr>
              <a:t>(</a:t>
            </a:r>
            <a:r>
              <a:rPr lang="en-US" altLang="zh-TW" b="0" i="0" dirty="0" err="1">
                <a:effectLst/>
                <a:latin typeface="ui-monospace"/>
              </a:rPr>
              <a:t>size_t</a:t>
            </a:r>
            <a:r>
              <a:rPr lang="en-US" altLang="zh-TW" b="0" i="0" dirty="0">
                <a:effectLst/>
                <a:latin typeface="ui-monospace"/>
              </a:rPr>
              <a:t>, </a:t>
            </a:r>
            <a:r>
              <a:rPr lang="en-US" altLang="zh-TW" b="0" i="0" dirty="0" err="1">
                <a:effectLst/>
                <a:latin typeface="ui-monospace"/>
              </a:rPr>
              <a:t>size_t</a:t>
            </a:r>
            <a:r>
              <a:rPr lang="en-US" altLang="zh-TW" b="0" i="0" dirty="0">
                <a:effectLst/>
                <a:latin typeface="ui-monospace"/>
              </a:rPr>
              <a:t>)'</a:t>
            </a:r>
          </a:p>
          <a:p>
            <a:pPr lvl="1"/>
            <a:r>
              <a:rPr lang="en-US" altLang="zh-TW" b="0" i="0" dirty="0">
                <a:effectLst/>
                <a:latin typeface="ui-monospace"/>
              </a:rPr>
              <a:t>Used to allocate memory	</a:t>
            </a:r>
          </a:p>
          <a:p>
            <a:r>
              <a:rPr lang="en-US" altLang="zh-TW" dirty="0">
                <a:latin typeface="ui-monospace"/>
              </a:rPr>
              <a:t>'</a:t>
            </a:r>
            <a:r>
              <a:rPr lang="en-US" altLang="zh-TW" b="0" i="0" dirty="0">
                <a:effectLst/>
                <a:latin typeface="ui-monospace"/>
              </a:rPr>
              <a:t>void </a:t>
            </a:r>
            <a:r>
              <a:rPr lang="en-US" altLang="zh-TW" b="0" i="0" dirty="0" err="1">
                <a:effectLst/>
                <a:latin typeface="ui-monospace"/>
              </a:rPr>
              <a:t>do_deallocate</a:t>
            </a:r>
            <a:r>
              <a:rPr lang="en-US" altLang="zh-TW" b="0" i="0" dirty="0">
                <a:effectLst/>
                <a:latin typeface="ui-monospace"/>
              </a:rPr>
              <a:t>(void*, </a:t>
            </a:r>
            <a:r>
              <a:rPr lang="en-US" altLang="zh-TW" b="0" i="0" dirty="0" err="1">
                <a:effectLst/>
                <a:latin typeface="ui-monospace"/>
              </a:rPr>
              <a:t>size_t</a:t>
            </a:r>
            <a:r>
              <a:rPr lang="en-US" altLang="zh-TW" b="0" i="0" dirty="0">
                <a:effectLst/>
                <a:latin typeface="ui-monospace"/>
              </a:rPr>
              <a:t>, </a:t>
            </a:r>
            <a:r>
              <a:rPr lang="en-US" altLang="zh-TW" b="0" i="0" dirty="0" err="1">
                <a:effectLst/>
                <a:latin typeface="ui-monospace"/>
              </a:rPr>
              <a:t>size_t</a:t>
            </a:r>
            <a:r>
              <a:rPr lang="en-US" altLang="zh-TW" b="0" i="0" dirty="0">
                <a:effectLst/>
                <a:latin typeface="ui-monospace"/>
              </a:rPr>
              <a:t>)</a:t>
            </a:r>
            <a:r>
              <a:rPr lang="en-US" altLang="zh-TW" dirty="0">
                <a:latin typeface="ui-monospace"/>
              </a:rPr>
              <a:t>'</a:t>
            </a:r>
          </a:p>
          <a:p>
            <a:pPr lvl="1"/>
            <a:r>
              <a:rPr lang="en-US" altLang="zh-TW" dirty="0">
                <a:latin typeface="ui-monospace"/>
              </a:rPr>
              <a:t>Used to deallocate memory</a:t>
            </a:r>
          </a:p>
          <a:p>
            <a:r>
              <a:rPr lang="en-US" altLang="zh-TW" dirty="0">
                <a:latin typeface="ui-monospace"/>
              </a:rPr>
              <a:t>'</a:t>
            </a:r>
            <a:r>
              <a:rPr lang="en-US" altLang="zh-TW" b="0" i="0" dirty="0">
                <a:effectLst/>
                <a:latin typeface="ui-monospace"/>
              </a:rPr>
              <a:t>bool </a:t>
            </a:r>
            <a:r>
              <a:rPr lang="en-US" altLang="zh-TW" b="0" i="0" dirty="0" err="1">
                <a:effectLst/>
                <a:latin typeface="ui-monospace"/>
              </a:rPr>
              <a:t>do_is_equal</a:t>
            </a:r>
            <a:r>
              <a:rPr lang="en-US" altLang="zh-TW" b="0" i="0" dirty="0">
                <a:effectLst/>
                <a:latin typeface="ui-monospace"/>
              </a:rPr>
              <a:t>(</a:t>
            </a:r>
            <a:r>
              <a:rPr lang="en-US" altLang="zh-TW" b="0" i="0" dirty="0" err="1">
                <a:effectLst/>
                <a:latin typeface="ui-monospace"/>
              </a:rPr>
              <a:t>memory_resource</a:t>
            </a:r>
            <a:r>
              <a:rPr lang="en-US" altLang="zh-TW" b="0" i="0" dirty="0">
                <a:effectLst/>
                <a:latin typeface="ui-monospace"/>
              </a:rPr>
              <a:t> const&amp;) const </a:t>
            </a:r>
            <a:r>
              <a:rPr lang="en-US" altLang="zh-TW" b="0" i="0" dirty="0" err="1">
                <a:effectLst/>
                <a:latin typeface="ui-monospace"/>
              </a:rPr>
              <a:t>noexcept</a:t>
            </a:r>
            <a:r>
              <a:rPr lang="en-US" altLang="zh-TW" dirty="0">
                <a:latin typeface="ui-monospace"/>
              </a:rPr>
              <a:t>'</a:t>
            </a:r>
          </a:p>
          <a:p>
            <a:pPr lvl="1"/>
            <a:r>
              <a:rPr lang="en-US" altLang="zh-TW" dirty="0"/>
              <a:t>Used to determine whether allocated memory can be swapped</a:t>
            </a:r>
          </a:p>
          <a:p>
            <a:r>
              <a:rPr lang="en-US" altLang="zh-TW" dirty="0"/>
              <a:t>Example: simple stack memory resource (</a:t>
            </a:r>
            <a:r>
              <a:rPr lang="en-US" altLang="zh-TW" dirty="0">
                <a:hlinkClick r:id="rId2"/>
              </a:rPr>
              <a:t>Godbolt link</a:t>
            </a:r>
            <a:r>
              <a:rPr lang="en-US" altLang="zh-TW" dirty="0"/>
              <a:t>)</a:t>
            </a:r>
          </a:p>
        </p:txBody>
      </p:sp>
    </p:spTree>
    <p:extLst>
      <p:ext uri="{BB962C8B-B14F-4D97-AF65-F5344CB8AC3E}">
        <p14:creationId xmlns:p14="http://schemas.microsoft.com/office/powerpoint/2010/main" val="2380053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a:extLst>
              <a:ext uri="{FF2B5EF4-FFF2-40B4-BE49-F238E27FC236}">
                <a16:creationId xmlns:a16="http://schemas.microsoft.com/office/drawing/2014/main" id="{B38A30CC-DFA0-BD95-A0E3-54A1222A7C23}"/>
              </a:ext>
            </a:extLst>
          </p:cNvPr>
          <p:cNvSpPr>
            <a:spLocks noGrp="1"/>
          </p:cNvSpPr>
          <p:nvPr>
            <p:ph type="title"/>
          </p:nvPr>
        </p:nvSpPr>
        <p:spPr/>
        <p:txBody>
          <a:bodyPr/>
          <a:lstStyle/>
          <a:p>
            <a:r>
              <a:rPr lang="en-US" altLang="zh-TW" dirty="0"/>
              <a:t>Allocator &amp; PMR</a:t>
            </a:r>
            <a:endParaRPr lang="zh-TW" altLang="en-US" dirty="0"/>
          </a:p>
        </p:txBody>
      </p:sp>
      <p:sp>
        <p:nvSpPr>
          <p:cNvPr id="11" name="內容版面配置區 10">
            <a:extLst>
              <a:ext uri="{FF2B5EF4-FFF2-40B4-BE49-F238E27FC236}">
                <a16:creationId xmlns:a16="http://schemas.microsoft.com/office/drawing/2014/main" id="{4CE6A24E-06D6-D62B-CDE6-700BDA2E0CC7}"/>
              </a:ext>
            </a:extLst>
          </p:cNvPr>
          <p:cNvSpPr>
            <a:spLocks noGrp="1"/>
          </p:cNvSpPr>
          <p:nvPr>
            <p:ph idx="1"/>
          </p:nvPr>
        </p:nvSpPr>
        <p:spPr>
          <a:xfrm>
            <a:off x="838200" y="1825624"/>
            <a:ext cx="10515600" cy="5032375"/>
          </a:xfrm>
        </p:spPr>
        <p:txBody>
          <a:bodyPr>
            <a:normAutofit/>
          </a:bodyPr>
          <a:lstStyle/>
          <a:p>
            <a:r>
              <a:rPr lang="en-US" altLang="zh-TW" dirty="0">
                <a:solidFill>
                  <a:schemeClr val="bg2">
                    <a:lumMod val="75000"/>
                  </a:schemeClr>
                </a:solidFill>
              </a:rPr>
              <a:t>Brief History</a:t>
            </a:r>
          </a:p>
          <a:p>
            <a:r>
              <a:rPr lang="en-US" altLang="zh-TW" dirty="0">
                <a:solidFill>
                  <a:schemeClr val="bg2">
                    <a:lumMod val="75000"/>
                  </a:schemeClr>
                </a:solidFill>
              </a:rPr>
              <a:t>Allocator usage</a:t>
            </a:r>
          </a:p>
          <a:p>
            <a:pPr lvl="1"/>
            <a:r>
              <a:rPr lang="en-US" altLang="zh-TW" dirty="0">
                <a:solidFill>
                  <a:schemeClr val="bg2">
                    <a:lumMod val="75000"/>
                  </a:schemeClr>
                </a:solidFill>
              </a:rPr>
              <a:t>What is allocator?</a:t>
            </a:r>
          </a:p>
          <a:p>
            <a:pPr lvl="1"/>
            <a:r>
              <a:rPr lang="en-US" altLang="zh-TW" dirty="0">
                <a:solidFill>
                  <a:schemeClr val="bg2">
                    <a:lumMod val="75000"/>
                  </a:schemeClr>
                </a:solidFill>
              </a:rPr>
              <a:t>Custom allocator</a:t>
            </a:r>
          </a:p>
          <a:p>
            <a:r>
              <a:rPr lang="en-US" altLang="zh-TW" dirty="0">
                <a:solidFill>
                  <a:schemeClr val="bg2">
                    <a:lumMod val="75000"/>
                  </a:schemeClr>
                </a:solidFill>
              </a:rPr>
              <a:t>PMR </a:t>
            </a:r>
          </a:p>
          <a:p>
            <a:pPr lvl="1"/>
            <a:r>
              <a:rPr lang="en-US" altLang="zh-TW" dirty="0">
                <a:solidFill>
                  <a:schemeClr val="bg2">
                    <a:lumMod val="75000"/>
                  </a:schemeClr>
                </a:solidFill>
              </a:rPr>
              <a:t>What &amp; why PMR</a:t>
            </a:r>
          </a:p>
          <a:p>
            <a:pPr lvl="1"/>
            <a:r>
              <a:rPr lang="en-US" altLang="zh-TW" dirty="0">
                <a:solidFill>
                  <a:schemeClr val="bg2">
                    <a:lumMod val="75000"/>
                  </a:schemeClr>
                </a:solidFill>
              </a:rPr>
              <a:t>PMR usage</a:t>
            </a:r>
          </a:p>
          <a:p>
            <a:pPr lvl="1"/>
            <a:r>
              <a:rPr lang="en-US" altLang="zh-TW" dirty="0">
                <a:solidFill>
                  <a:schemeClr val="bg2">
                    <a:lumMod val="75000"/>
                  </a:schemeClr>
                </a:solidFill>
              </a:rPr>
              <a:t>Custom '</a:t>
            </a:r>
            <a:r>
              <a:rPr lang="en-US" altLang="zh-TW" dirty="0" err="1">
                <a:solidFill>
                  <a:schemeClr val="bg2">
                    <a:lumMod val="75000"/>
                  </a:schemeClr>
                </a:solidFill>
              </a:rPr>
              <a:t>memory_resource</a:t>
            </a:r>
            <a:r>
              <a:rPr lang="en-US" altLang="zh-TW" dirty="0">
                <a:solidFill>
                  <a:schemeClr val="bg2">
                    <a:lumMod val="75000"/>
                  </a:schemeClr>
                </a:solidFill>
              </a:rPr>
              <a:t>'</a:t>
            </a:r>
          </a:p>
          <a:p>
            <a:r>
              <a:rPr lang="en-US" altLang="zh-TW" dirty="0"/>
              <a:t>Allocator/PMR for user defined class</a:t>
            </a:r>
          </a:p>
          <a:p>
            <a:pPr lvl="1"/>
            <a:r>
              <a:rPr lang="en-US" altLang="zh-TW" dirty="0"/>
              <a:t>std::</a:t>
            </a:r>
            <a:r>
              <a:rPr lang="en-US" altLang="zh-TW" dirty="0" err="1"/>
              <a:t>use_allocator_v</a:t>
            </a:r>
            <a:endParaRPr lang="en-US" altLang="zh-TW" dirty="0"/>
          </a:p>
          <a:p>
            <a:pPr lvl="1"/>
            <a:r>
              <a:rPr lang="en-US" altLang="zh-TW" dirty="0"/>
              <a:t>Uses-allocator construction</a:t>
            </a:r>
          </a:p>
          <a:p>
            <a:pPr lvl="1"/>
            <a:endParaRPr lang="zh-TW" altLang="en-US" dirty="0"/>
          </a:p>
        </p:txBody>
      </p:sp>
    </p:spTree>
    <p:extLst>
      <p:ext uri="{BB962C8B-B14F-4D97-AF65-F5344CB8AC3E}">
        <p14:creationId xmlns:p14="http://schemas.microsoft.com/office/powerpoint/2010/main" val="831511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Allocator/PMR for user defined class</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dirty="0"/>
              <a:t>We know how to manage memory for </a:t>
            </a:r>
            <a:r>
              <a:rPr lang="en-US" altLang="zh-TW" dirty="0" err="1"/>
              <a:t>sth</a:t>
            </a:r>
            <a:r>
              <a:rPr lang="en-US" altLang="zh-TW" dirty="0"/>
              <a:t> like 'std::vector&lt;int&gt;' now</a:t>
            </a:r>
          </a:p>
          <a:p>
            <a:pPr lvl="1"/>
            <a:r>
              <a:rPr lang="en-US" altLang="zh-TW" dirty="0"/>
              <a:t>Via old-style allocator or PMR with memory resource</a:t>
            </a:r>
          </a:p>
          <a:p>
            <a:r>
              <a:rPr lang="en-US" altLang="zh-TW" dirty="0"/>
              <a:t>But the element is not user defined class</a:t>
            </a:r>
          </a:p>
          <a:p>
            <a:pPr lvl="1"/>
            <a:r>
              <a:rPr lang="en-US" altLang="zh-TW" dirty="0"/>
              <a:t>Or said, not POD type.</a:t>
            </a:r>
          </a:p>
          <a:p>
            <a:r>
              <a:rPr lang="en-US" altLang="zh-TW" dirty="0"/>
              <a:t>We want 'std::vector&lt;Data&gt;' also not using heap</a:t>
            </a:r>
          </a:p>
          <a:p>
            <a:pPr lvl="1"/>
            <a:r>
              <a:rPr lang="en-US" altLang="zh-TW" dirty="0"/>
              <a:t>This need to make 'Data' use allocator too.</a:t>
            </a:r>
          </a:p>
          <a:p>
            <a:pPr lvl="1"/>
            <a:endParaRPr lang="en-US" altLang="zh-TW" dirty="0"/>
          </a:p>
        </p:txBody>
      </p:sp>
    </p:spTree>
    <p:extLst>
      <p:ext uri="{BB962C8B-B14F-4D97-AF65-F5344CB8AC3E}">
        <p14:creationId xmlns:p14="http://schemas.microsoft.com/office/powerpoint/2010/main" val="1244422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Details of the allocation process</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b="0" i="0" u="none" strike="noStrike" dirty="0">
                <a:solidFill>
                  <a:srgbClr val="2388F6"/>
                </a:solidFill>
                <a:effectLst/>
                <a:latin typeface="Inter"/>
                <a:hlinkClick r:id="rId2"/>
              </a:rPr>
              <a:t>N4950</a:t>
            </a:r>
            <a:r>
              <a:rPr lang="zh-TW" altLang="en-US" b="0" i="0" u="none" strike="noStrike" dirty="0">
                <a:solidFill>
                  <a:srgbClr val="2388F6"/>
                </a:solidFill>
                <a:effectLst/>
                <a:latin typeface="Inter"/>
                <a:hlinkClick r:id="rId2"/>
              </a:rPr>
              <a:t>（</a:t>
            </a:r>
            <a:r>
              <a:rPr lang="en-US" altLang="zh-TW" b="0" i="0" u="none" strike="noStrike" dirty="0">
                <a:solidFill>
                  <a:srgbClr val="2388F6"/>
                </a:solidFill>
                <a:effectLst/>
                <a:latin typeface="Inter"/>
                <a:hlinkClick r:id="rId2"/>
              </a:rPr>
              <a:t>24.2.2.2-64</a:t>
            </a:r>
            <a:r>
              <a:rPr lang="zh-TW" altLang="en-US" b="0" i="0" u="none" strike="noStrike" dirty="0">
                <a:solidFill>
                  <a:srgbClr val="2388F6"/>
                </a:solidFill>
                <a:effectLst/>
                <a:latin typeface="Inter"/>
                <a:hlinkClick r:id="rId2"/>
              </a:rPr>
              <a:t>）</a:t>
            </a:r>
            <a:r>
              <a:rPr lang="zh-TW" altLang="en-US" b="0" i="0" dirty="0">
                <a:effectLst/>
                <a:latin typeface="Inter"/>
              </a:rPr>
              <a:t>：</a:t>
            </a:r>
            <a:endParaRPr lang="en-US" altLang="zh-TW" b="0" i="0" dirty="0">
              <a:effectLst/>
              <a:latin typeface="Inter"/>
            </a:endParaRPr>
          </a:p>
          <a:p>
            <a:pPr marL="457200" lvl="1" indent="0">
              <a:buNone/>
            </a:pPr>
            <a:r>
              <a:rPr lang="en-US" altLang="zh-TW" b="0" i="0" dirty="0">
                <a:effectLst/>
                <a:latin typeface="Inter"/>
              </a:rPr>
              <a:t>Unless otherwise specified, all containers defined in this Clause obtain memory using an allocator.</a:t>
            </a:r>
            <a:br>
              <a:rPr lang="en-US" altLang="zh-TW" dirty="0"/>
            </a:br>
            <a:r>
              <a:rPr lang="en-US" altLang="zh-TW" b="0" i="0" dirty="0">
                <a:effectLst/>
                <a:latin typeface="Inter"/>
              </a:rPr>
              <a:t>...</a:t>
            </a:r>
            <a:br>
              <a:rPr lang="en-US" altLang="zh-TW" dirty="0"/>
            </a:br>
            <a:r>
              <a:rPr lang="en-US" altLang="zh-TW" b="0" i="0" dirty="0">
                <a:effectLst/>
                <a:latin typeface="Inter"/>
              </a:rPr>
              <a:t>A copy of this allocator is used for any memory allocation and element construction performed, by these constructors and by all member functions, during the lifetime of each container object or until the allocator is replaced.</a:t>
            </a:r>
            <a:endParaRPr lang="en-US" altLang="zh-TW" dirty="0">
              <a:latin typeface="Inter"/>
            </a:endParaRPr>
          </a:p>
          <a:p>
            <a:r>
              <a:rPr lang="en-US" altLang="zh-TW" b="0" i="0" u="none" strike="noStrike" dirty="0">
                <a:solidFill>
                  <a:srgbClr val="2388F6"/>
                </a:solidFill>
                <a:effectLst/>
                <a:latin typeface="Inter"/>
                <a:hlinkClick r:id="rId3"/>
              </a:rPr>
              <a:t>N4950</a:t>
            </a:r>
            <a:r>
              <a:rPr lang="zh-TW" altLang="en-US" b="0" i="0" u="none" strike="noStrike" dirty="0">
                <a:solidFill>
                  <a:srgbClr val="2388F6"/>
                </a:solidFill>
                <a:effectLst/>
                <a:latin typeface="Inter"/>
                <a:hlinkClick r:id="rId3"/>
              </a:rPr>
              <a:t>（</a:t>
            </a:r>
            <a:r>
              <a:rPr lang="en-US" altLang="zh-TW" b="0" i="0" u="none" strike="noStrike" dirty="0">
                <a:solidFill>
                  <a:srgbClr val="2388F6"/>
                </a:solidFill>
                <a:effectLst/>
                <a:latin typeface="Inter"/>
                <a:hlinkClick r:id="rId3"/>
              </a:rPr>
              <a:t>24.2.2.5-2</a:t>
            </a:r>
            <a:r>
              <a:rPr lang="zh-TW" altLang="en-US" b="0" i="0" u="none" strike="noStrike" dirty="0">
                <a:solidFill>
                  <a:srgbClr val="2388F6"/>
                </a:solidFill>
                <a:effectLst/>
                <a:latin typeface="Inter"/>
                <a:hlinkClick r:id="rId3"/>
              </a:rPr>
              <a:t>）</a:t>
            </a:r>
            <a:r>
              <a:rPr lang="en-US" altLang="zh-TW" b="0" i="0" u="none" strike="noStrike" dirty="0">
                <a:solidFill>
                  <a:srgbClr val="2388F6"/>
                </a:solidFill>
                <a:effectLst/>
                <a:latin typeface="Inter"/>
              </a:rPr>
              <a:t>:</a:t>
            </a:r>
          </a:p>
          <a:p>
            <a:pPr marL="457200" lvl="1" indent="0">
              <a:spcBef>
                <a:spcPts val="1200"/>
              </a:spcBef>
              <a:buNone/>
            </a:pPr>
            <a:r>
              <a:rPr lang="en-US" altLang="zh-TW" dirty="0">
                <a:solidFill>
                  <a:schemeClr val="tx1">
                    <a:lumMod val="85000"/>
                    <a:lumOff val="15000"/>
                  </a:schemeClr>
                </a:solidFill>
              </a:rPr>
              <a:t>A container calls '</a:t>
            </a:r>
            <a:r>
              <a:rPr lang="en-US" altLang="zh-TW" dirty="0" err="1">
                <a:solidFill>
                  <a:schemeClr val="tx1">
                    <a:lumMod val="85000"/>
                    <a:lumOff val="15000"/>
                  </a:schemeClr>
                </a:solidFill>
              </a:rPr>
              <a:t>allocator_traits</a:t>
            </a:r>
            <a:r>
              <a:rPr lang="en-US" altLang="zh-TW" dirty="0">
                <a:solidFill>
                  <a:schemeClr val="tx1">
                    <a:lumMod val="85000"/>
                    <a:lumOff val="15000"/>
                  </a:schemeClr>
                </a:solidFill>
              </a:rPr>
              <a:t>&lt;A&gt;​::​construct(m, p, </a:t>
            </a:r>
            <a:r>
              <a:rPr lang="en-US" altLang="zh-TW" dirty="0" err="1">
                <a:solidFill>
                  <a:schemeClr val="tx1">
                    <a:lumMod val="85000"/>
                    <a:lumOff val="15000"/>
                  </a:schemeClr>
                </a:solidFill>
              </a:rPr>
              <a:t>args</a:t>
            </a:r>
            <a:r>
              <a:rPr lang="en-US" altLang="zh-TW" dirty="0">
                <a:solidFill>
                  <a:schemeClr val="tx1">
                    <a:lumMod val="85000"/>
                    <a:lumOff val="15000"/>
                  </a:schemeClr>
                </a:solidFill>
              </a:rPr>
              <a:t>)' to construct an element at 'p' using '</a:t>
            </a:r>
            <a:r>
              <a:rPr lang="en-US" altLang="zh-TW" dirty="0" err="1">
                <a:solidFill>
                  <a:schemeClr val="tx1">
                    <a:lumMod val="85000"/>
                    <a:lumOff val="15000"/>
                  </a:schemeClr>
                </a:solidFill>
              </a:rPr>
              <a:t>args</a:t>
            </a:r>
            <a:r>
              <a:rPr lang="en-US" altLang="zh-TW" dirty="0">
                <a:solidFill>
                  <a:schemeClr val="tx1">
                    <a:lumMod val="85000"/>
                    <a:lumOff val="15000"/>
                  </a:schemeClr>
                </a:solidFill>
              </a:rPr>
              <a:t>', with 'm == </a:t>
            </a:r>
            <a:r>
              <a:rPr lang="en-US" altLang="zh-TW" dirty="0" err="1">
                <a:solidFill>
                  <a:schemeClr val="tx1">
                    <a:lumMod val="85000"/>
                    <a:lumOff val="15000"/>
                  </a:schemeClr>
                </a:solidFill>
              </a:rPr>
              <a:t>get_allocator</a:t>
            </a:r>
            <a:r>
              <a:rPr lang="en-US" altLang="zh-TW" dirty="0">
                <a:solidFill>
                  <a:schemeClr val="tx1">
                    <a:lumMod val="85000"/>
                    <a:lumOff val="15000"/>
                  </a:schemeClr>
                </a:solidFill>
              </a:rPr>
              <a:t>()'. </a:t>
            </a:r>
          </a:p>
          <a:p>
            <a:pPr marL="457200" lvl="1" indent="0">
              <a:spcBef>
                <a:spcPts val="1200"/>
              </a:spcBef>
              <a:buNone/>
            </a:pPr>
            <a:r>
              <a:rPr lang="en-US" altLang="zh-TW" dirty="0">
                <a:solidFill>
                  <a:schemeClr val="tx1">
                    <a:lumMod val="85000"/>
                    <a:lumOff val="15000"/>
                  </a:schemeClr>
                </a:solidFill>
              </a:rPr>
              <a:t>The default construct in allocator will call '​::​new((void*)p) T(</a:t>
            </a:r>
            <a:r>
              <a:rPr lang="en-US" altLang="zh-TW" dirty="0" err="1">
                <a:solidFill>
                  <a:schemeClr val="tx1">
                    <a:lumMod val="85000"/>
                    <a:lumOff val="15000"/>
                  </a:schemeClr>
                </a:solidFill>
              </a:rPr>
              <a:t>args</a:t>
            </a:r>
            <a:r>
              <a:rPr lang="en-US" altLang="zh-TW" dirty="0">
                <a:solidFill>
                  <a:schemeClr val="tx1">
                    <a:lumMod val="85000"/>
                    <a:lumOff val="15000"/>
                  </a:schemeClr>
                </a:solidFill>
              </a:rPr>
              <a:t>)', but specialized allocators can choose a different definition.</a:t>
            </a:r>
          </a:p>
          <a:p>
            <a:endParaRPr lang="en-US" altLang="zh-TW" b="0" i="0" dirty="0">
              <a:effectLst/>
              <a:latin typeface="Inter"/>
            </a:endParaRPr>
          </a:p>
        </p:txBody>
      </p:sp>
    </p:spTree>
    <p:extLst>
      <p:ext uri="{BB962C8B-B14F-4D97-AF65-F5344CB8AC3E}">
        <p14:creationId xmlns:p14="http://schemas.microsoft.com/office/powerpoint/2010/main" val="3971497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Details of the allocation process</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b="0" i="0" dirty="0">
                <a:effectLst/>
                <a:latin typeface="Inter"/>
              </a:rPr>
              <a:t>STL container use '</a:t>
            </a:r>
            <a:r>
              <a:rPr lang="en-US" altLang="zh-TW" b="0" i="0" dirty="0" err="1">
                <a:effectLst/>
                <a:latin typeface="Inter"/>
              </a:rPr>
              <a:t>allocator_traits</a:t>
            </a:r>
            <a:r>
              <a:rPr lang="en-US" altLang="zh-TW" b="0" i="0" dirty="0">
                <a:effectLst/>
                <a:latin typeface="Inter"/>
              </a:rPr>
              <a:t>::construct(m, p, </a:t>
            </a:r>
            <a:r>
              <a:rPr lang="en-US" altLang="zh-TW" b="0" i="0" dirty="0" err="1">
                <a:effectLst/>
                <a:latin typeface="Inter"/>
              </a:rPr>
              <a:t>args</a:t>
            </a:r>
            <a:r>
              <a:rPr lang="en-US" altLang="zh-TW" b="0" i="0" dirty="0">
                <a:effectLst/>
                <a:latin typeface="Inter"/>
              </a:rPr>
              <a:t>) to construct element</a:t>
            </a:r>
          </a:p>
          <a:p>
            <a:r>
              <a:rPr lang="en-US" altLang="zh-TW" b="0" i="0" dirty="0">
                <a:effectLst/>
                <a:latin typeface="Inter"/>
              </a:rPr>
              <a:t>'</a:t>
            </a:r>
            <a:r>
              <a:rPr lang="en-US" altLang="zh-TW" b="0" i="0" dirty="0" err="1">
                <a:effectLst/>
                <a:latin typeface="Inter"/>
              </a:rPr>
              <a:t>allocator_traits</a:t>
            </a:r>
            <a:r>
              <a:rPr lang="en-US" altLang="zh-TW" b="0" i="0" dirty="0">
                <a:effectLst/>
                <a:latin typeface="Inter"/>
              </a:rPr>
              <a:t>::construct' always use the same copy of the allocator</a:t>
            </a:r>
          </a:p>
          <a:p>
            <a:pPr lvl="1"/>
            <a:r>
              <a:rPr lang="en-US" altLang="zh-TW" b="0" i="0" dirty="0">
                <a:effectLst/>
                <a:latin typeface="Inter"/>
              </a:rPr>
              <a:t>Of course, with the premise that the allocator didn’t be changed.</a:t>
            </a:r>
          </a:p>
          <a:p>
            <a:pPr lvl="1"/>
            <a:r>
              <a:rPr lang="en-US" altLang="zh-TW" dirty="0">
                <a:latin typeface="Inter"/>
              </a:rPr>
              <a:t>Also, the container instance need to be alive.</a:t>
            </a:r>
          </a:p>
          <a:p>
            <a:r>
              <a:rPr lang="en-US" altLang="zh-TW" b="0" i="0" dirty="0">
                <a:effectLst/>
                <a:latin typeface="Inter"/>
              </a:rPr>
              <a:t>'</a:t>
            </a:r>
            <a:r>
              <a:rPr lang="en-US" altLang="zh-TW" b="0" i="0" dirty="0" err="1">
                <a:effectLst/>
                <a:latin typeface="Inter"/>
              </a:rPr>
              <a:t>allocator_traits</a:t>
            </a:r>
            <a:r>
              <a:rPr lang="en-US" altLang="zh-TW" b="0" i="0" dirty="0">
                <a:effectLst/>
                <a:latin typeface="Inter"/>
              </a:rPr>
              <a:t>::construct' will call</a:t>
            </a:r>
          </a:p>
          <a:p>
            <a:pPr lvl="1"/>
            <a:r>
              <a:rPr lang="en-US" altLang="zh-TW" b="0" i="0" dirty="0">
                <a:effectLst/>
                <a:latin typeface="Inter"/>
              </a:rPr>
              <a:t>'</a:t>
            </a:r>
            <a:r>
              <a:rPr lang="en-US" altLang="zh-TW" b="0" i="0" dirty="0" err="1">
                <a:effectLst/>
                <a:latin typeface="Inter"/>
              </a:rPr>
              <a:t>alloc.construct</a:t>
            </a:r>
            <a:r>
              <a:rPr lang="en-US" altLang="zh-TW" b="0" i="0" dirty="0">
                <a:effectLst/>
                <a:latin typeface="Inter"/>
              </a:rPr>
              <a:t>(p, std​::​forward&lt;</a:t>
            </a:r>
            <a:r>
              <a:rPr lang="en-US" altLang="zh-TW" b="0" i="0" dirty="0" err="1">
                <a:effectLst/>
                <a:latin typeface="Inter"/>
              </a:rPr>
              <a:t>Args</a:t>
            </a:r>
            <a:r>
              <a:rPr lang="en-US" altLang="zh-TW" b="0" i="0" dirty="0">
                <a:effectLst/>
                <a:latin typeface="Inter"/>
              </a:rPr>
              <a:t>&gt;(</a:t>
            </a:r>
            <a:r>
              <a:rPr lang="en-US" altLang="zh-TW" b="0" i="0" dirty="0" err="1">
                <a:effectLst/>
                <a:latin typeface="Inter"/>
              </a:rPr>
              <a:t>args</a:t>
            </a:r>
            <a:r>
              <a:rPr lang="en-US" altLang="zh-TW" b="0" i="0" dirty="0">
                <a:effectLst/>
                <a:latin typeface="Inter"/>
              </a:rPr>
              <a:t>)...)' if that call is well-formed</a:t>
            </a:r>
          </a:p>
          <a:p>
            <a:pPr lvl="1"/>
            <a:r>
              <a:rPr lang="en-US" altLang="zh-TW" b="0" i="0" dirty="0">
                <a:effectLst/>
                <a:latin typeface="Inter"/>
              </a:rPr>
              <a:t>otherwise, invokes '</a:t>
            </a:r>
            <a:r>
              <a:rPr lang="en-US" altLang="zh-TW" b="0" i="0" dirty="0" err="1">
                <a:effectLst/>
                <a:latin typeface="Inter"/>
              </a:rPr>
              <a:t>construct_at</a:t>
            </a:r>
            <a:r>
              <a:rPr lang="en-US" altLang="zh-TW" b="0" i="0" dirty="0">
                <a:effectLst/>
                <a:latin typeface="Inter"/>
              </a:rPr>
              <a:t>(p, std​::​forward&lt;</a:t>
            </a:r>
            <a:r>
              <a:rPr lang="en-US" altLang="zh-TW" b="0" i="0" dirty="0" err="1">
                <a:effectLst/>
                <a:latin typeface="Inter"/>
              </a:rPr>
              <a:t>Args</a:t>
            </a:r>
            <a:r>
              <a:rPr lang="en-US" altLang="zh-TW" b="0" i="0" dirty="0">
                <a:effectLst/>
                <a:latin typeface="Inter"/>
              </a:rPr>
              <a:t>&gt;(</a:t>
            </a:r>
            <a:r>
              <a:rPr lang="en-US" altLang="zh-TW" b="0" i="0" dirty="0" err="1">
                <a:effectLst/>
                <a:latin typeface="Inter"/>
              </a:rPr>
              <a:t>args</a:t>
            </a:r>
            <a:r>
              <a:rPr lang="en-US" altLang="zh-TW" b="0" i="0" dirty="0">
                <a:effectLst/>
                <a:latin typeface="Inter"/>
              </a:rPr>
              <a:t>)...)'</a:t>
            </a:r>
          </a:p>
          <a:p>
            <a:pPr lvl="1"/>
            <a:r>
              <a:rPr lang="en-US" altLang="zh-TW" u="none" strike="noStrike" dirty="0">
                <a:latin typeface="Inter"/>
              </a:rPr>
              <a:t>Said at </a:t>
            </a:r>
            <a:r>
              <a:rPr lang="en-US" altLang="zh-TW" b="0" i="0" u="none" strike="noStrike" dirty="0">
                <a:solidFill>
                  <a:srgbClr val="2388F6"/>
                </a:solidFill>
                <a:effectLst/>
                <a:latin typeface="Inter"/>
                <a:hlinkClick r:id="rId2"/>
              </a:rPr>
              <a:t>N4950</a:t>
            </a:r>
            <a:r>
              <a:rPr lang="zh-TW" altLang="en-US" b="0" i="0" u="none" strike="noStrike" dirty="0">
                <a:solidFill>
                  <a:srgbClr val="2388F6"/>
                </a:solidFill>
                <a:effectLst/>
                <a:latin typeface="Inter"/>
                <a:hlinkClick r:id="rId2"/>
              </a:rPr>
              <a:t>（</a:t>
            </a:r>
            <a:r>
              <a:rPr lang="en-US" altLang="zh-TW" b="0" i="0" u="none" strike="noStrike" dirty="0">
                <a:solidFill>
                  <a:srgbClr val="2388F6"/>
                </a:solidFill>
                <a:effectLst/>
                <a:latin typeface="Inter"/>
                <a:hlinkClick r:id="rId2"/>
              </a:rPr>
              <a:t>20.2.9.3-6</a:t>
            </a:r>
            <a:r>
              <a:rPr lang="zh-TW" altLang="en-US" b="0" i="0" u="none" strike="noStrike" dirty="0">
                <a:solidFill>
                  <a:srgbClr val="2388F6"/>
                </a:solidFill>
                <a:effectLst/>
                <a:latin typeface="Inter"/>
                <a:hlinkClick r:id="rId2"/>
              </a:rPr>
              <a:t>）</a:t>
            </a:r>
            <a:r>
              <a:rPr lang="en-US" altLang="zh-TW" b="0" i="0" u="none" strike="noStrike" dirty="0">
                <a:solidFill>
                  <a:srgbClr val="2388F6"/>
                </a:solidFill>
                <a:effectLst/>
                <a:latin typeface="Inter"/>
              </a:rPr>
              <a:t>.</a:t>
            </a:r>
            <a:endParaRPr lang="en-US" altLang="zh-TW" b="0" i="0" dirty="0">
              <a:effectLst/>
              <a:latin typeface="Inter"/>
            </a:endParaRPr>
          </a:p>
        </p:txBody>
      </p:sp>
    </p:spTree>
    <p:extLst>
      <p:ext uri="{BB962C8B-B14F-4D97-AF65-F5344CB8AC3E}">
        <p14:creationId xmlns:p14="http://schemas.microsoft.com/office/powerpoint/2010/main" val="298081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b="0" i="0" dirty="0">
                <a:effectLst/>
                <a:latin typeface="ui-monospace"/>
              </a:rPr>
              <a:t>'std::</a:t>
            </a:r>
            <a:r>
              <a:rPr lang="en-US" altLang="zh-TW" b="0" i="0" dirty="0" err="1">
                <a:effectLst/>
                <a:latin typeface="ui-monospace"/>
              </a:rPr>
              <a:t>uses_allocator</a:t>
            </a:r>
            <a:r>
              <a:rPr lang="en-US" altLang="zh-TW" b="0" i="0" dirty="0">
                <a:effectLst/>
                <a:latin typeface="ui-monospace"/>
              </a:rPr>
              <a:t>&lt;T, </a:t>
            </a:r>
            <a:r>
              <a:rPr lang="en-US" altLang="zh-TW" b="0" i="0" dirty="0" err="1">
                <a:effectLst/>
                <a:latin typeface="ui-monospace"/>
              </a:rPr>
              <a:t>Alloc</a:t>
            </a:r>
            <a:r>
              <a:rPr lang="en-US" altLang="zh-TW" b="0" i="0" dirty="0">
                <a:effectLst/>
                <a:latin typeface="ui-monospace"/>
              </a:rPr>
              <a:t>&gt;'</a:t>
            </a:r>
            <a:endParaRPr lang="en-US" altLang="zh-TW" dirty="0"/>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b="0" i="0" dirty="0">
                <a:effectLst/>
                <a:latin typeface="Inter"/>
              </a:rPr>
              <a:t>It's an trait class defined in '</a:t>
            </a:r>
            <a:r>
              <a:rPr lang="en-US" altLang="zh-TW" b="0" i="0" dirty="0" err="1">
                <a:effectLst/>
                <a:latin typeface="Inter"/>
              </a:rPr>
              <a:t>type_traits</a:t>
            </a:r>
            <a:r>
              <a:rPr lang="en-US" altLang="zh-TW" b="0" i="0" dirty="0">
                <a:effectLst/>
                <a:latin typeface="Inter"/>
              </a:rPr>
              <a:t>'.</a:t>
            </a:r>
          </a:p>
          <a:p>
            <a:r>
              <a:rPr lang="en-US" altLang="zh-TW" b="0" i="0" dirty="0">
                <a:effectLst/>
                <a:latin typeface="Inter"/>
              </a:rPr>
              <a:t>Used to determine whether the 'T' can use the '</a:t>
            </a:r>
            <a:r>
              <a:rPr lang="en-US" altLang="zh-TW" b="0" i="0" dirty="0" err="1">
                <a:effectLst/>
                <a:latin typeface="Inter"/>
              </a:rPr>
              <a:t>Alloc</a:t>
            </a:r>
            <a:r>
              <a:rPr lang="en-US" altLang="zh-TW" b="0" i="0" dirty="0">
                <a:effectLst/>
                <a:latin typeface="Inter"/>
              </a:rPr>
              <a:t>'.</a:t>
            </a:r>
          </a:p>
          <a:p>
            <a:r>
              <a:rPr lang="en-US" altLang="zh-TW" dirty="0">
                <a:latin typeface="Inter"/>
              </a:rPr>
              <a:t>2 value: '</a:t>
            </a:r>
            <a:r>
              <a:rPr lang="en-US" altLang="zh-TW" dirty="0" err="1">
                <a:latin typeface="Inter"/>
              </a:rPr>
              <a:t>true_type</a:t>
            </a:r>
            <a:r>
              <a:rPr lang="en-US" altLang="zh-TW" dirty="0">
                <a:latin typeface="Inter"/>
              </a:rPr>
              <a:t>' and '</a:t>
            </a:r>
            <a:r>
              <a:rPr lang="en-US" altLang="zh-TW" dirty="0" err="1">
                <a:latin typeface="Inter"/>
              </a:rPr>
              <a:t>false_type</a:t>
            </a:r>
            <a:r>
              <a:rPr lang="en-US" altLang="zh-TW" dirty="0">
                <a:latin typeface="Inter"/>
              </a:rPr>
              <a:t>'</a:t>
            </a:r>
          </a:p>
          <a:p>
            <a:r>
              <a:rPr lang="en-US" altLang="zh-TW" dirty="0">
                <a:latin typeface="Inter"/>
              </a:rPr>
              <a:t>'</a:t>
            </a:r>
            <a:r>
              <a:rPr lang="en-US" altLang="zh-TW" dirty="0" err="1">
                <a:latin typeface="Inter"/>
              </a:rPr>
              <a:t>true_type</a:t>
            </a:r>
            <a:r>
              <a:rPr lang="en-US" altLang="zh-TW" dirty="0">
                <a:latin typeface="Inter"/>
              </a:rPr>
              <a:t>' if</a:t>
            </a:r>
          </a:p>
          <a:p>
            <a:pPr lvl="1"/>
            <a:r>
              <a:rPr lang="en-US" altLang="zh-TW" b="0" i="0" dirty="0">
                <a:effectLst/>
                <a:latin typeface="Inter"/>
              </a:rPr>
              <a:t>T contains a qualified-id '</a:t>
            </a:r>
            <a:r>
              <a:rPr lang="en-US" altLang="zh-TW" b="0" i="0" dirty="0" err="1">
                <a:effectLst/>
                <a:latin typeface="Inter"/>
              </a:rPr>
              <a:t>allocator_type</a:t>
            </a:r>
            <a:r>
              <a:rPr lang="en-US" altLang="zh-TW" b="0" i="0" dirty="0">
                <a:effectLst/>
                <a:latin typeface="Inter"/>
              </a:rPr>
              <a:t>', and 'T::</a:t>
            </a:r>
            <a:r>
              <a:rPr lang="en-US" altLang="zh-TW" b="0" i="0" dirty="0" err="1">
                <a:effectLst/>
                <a:latin typeface="Inter"/>
              </a:rPr>
              <a:t>allocator_type</a:t>
            </a:r>
            <a:r>
              <a:rPr lang="en-US" altLang="zh-TW" b="0" i="0" dirty="0">
                <a:effectLst/>
                <a:latin typeface="Inter"/>
              </a:rPr>
              <a:t>' is compatible with '</a:t>
            </a:r>
            <a:r>
              <a:rPr lang="en-US" altLang="zh-TW" b="0" i="0" dirty="0" err="1">
                <a:effectLst/>
                <a:latin typeface="Inter"/>
              </a:rPr>
              <a:t>Alloc</a:t>
            </a:r>
            <a:r>
              <a:rPr lang="en-US" altLang="zh-TW" b="0" i="0" dirty="0">
                <a:effectLst/>
                <a:latin typeface="Inter"/>
              </a:rPr>
              <a:t>' (can be cast).</a:t>
            </a:r>
          </a:p>
          <a:p>
            <a:pPr lvl="1"/>
            <a:r>
              <a:rPr lang="en-US" altLang="zh-TW" b="0" i="0" dirty="0">
                <a:effectLst/>
                <a:latin typeface="Inter"/>
              </a:rPr>
              <a:t>Manually specialize the target type of 'std::</a:t>
            </a:r>
            <a:r>
              <a:rPr lang="en-US" altLang="zh-TW" b="0" i="0" dirty="0" err="1">
                <a:effectLst/>
                <a:latin typeface="Inter"/>
              </a:rPr>
              <a:t>uses_allocator</a:t>
            </a:r>
            <a:r>
              <a:rPr lang="en-US" altLang="zh-TW" b="0" i="0" dirty="0">
                <a:effectLst/>
                <a:latin typeface="Inter"/>
              </a:rPr>
              <a:t>' to '</a:t>
            </a:r>
            <a:r>
              <a:rPr lang="en-US" altLang="zh-TW" b="0" i="0" dirty="0" err="1">
                <a:effectLst/>
                <a:latin typeface="Inter"/>
              </a:rPr>
              <a:t>true_type</a:t>
            </a:r>
            <a:r>
              <a:rPr lang="en-US" altLang="zh-TW" dirty="0">
                <a:latin typeface="Inter"/>
              </a:rPr>
              <a:t>'.</a:t>
            </a:r>
          </a:p>
          <a:p>
            <a:pPr lvl="2"/>
            <a:r>
              <a:rPr lang="en-US" altLang="zh-TW" dirty="0">
                <a:latin typeface="Inter"/>
              </a:rPr>
              <a:t>The first parameter type of constructor must be '</a:t>
            </a:r>
            <a:r>
              <a:rPr lang="en-US" altLang="zh-TW" dirty="0" err="1">
                <a:latin typeface="Inter"/>
              </a:rPr>
              <a:t>allocator_arg_t</a:t>
            </a:r>
            <a:r>
              <a:rPr lang="en-US" altLang="zh-TW" dirty="0">
                <a:latin typeface="Inter"/>
              </a:rPr>
              <a:t>'. And the second parameter need to be '</a:t>
            </a:r>
            <a:r>
              <a:rPr lang="en-US" altLang="zh-TW" dirty="0" err="1">
                <a:latin typeface="Inter"/>
              </a:rPr>
              <a:t>Alloc</a:t>
            </a:r>
            <a:r>
              <a:rPr lang="en-US" altLang="zh-TW" dirty="0">
                <a:latin typeface="Inter"/>
              </a:rPr>
              <a:t>'.</a:t>
            </a:r>
          </a:p>
          <a:p>
            <a:pPr lvl="2"/>
            <a:r>
              <a:rPr lang="en-US" altLang="zh-TW" b="0" i="0" dirty="0">
                <a:effectLst/>
                <a:latin typeface="Inter"/>
              </a:rPr>
              <a:t>Or the last parameter type of constructor must be '</a:t>
            </a:r>
            <a:r>
              <a:rPr lang="en-US" altLang="zh-TW" b="0" i="0" dirty="0" err="1">
                <a:effectLst/>
                <a:latin typeface="Inter"/>
              </a:rPr>
              <a:t>Alloc</a:t>
            </a:r>
            <a:r>
              <a:rPr lang="en-US" altLang="zh-TW" b="0" i="0" dirty="0">
                <a:effectLst/>
                <a:latin typeface="Inter"/>
              </a:rPr>
              <a:t>'.</a:t>
            </a:r>
          </a:p>
        </p:txBody>
      </p:sp>
    </p:spTree>
    <p:extLst>
      <p:ext uri="{BB962C8B-B14F-4D97-AF65-F5344CB8AC3E}">
        <p14:creationId xmlns:p14="http://schemas.microsoft.com/office/powerpoint/2010/main" val="2312291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b="0" i="0" dirty="0">
                <a:effectLst/>
                <a:latin typeface="ui-monospace"/>
              </a:rPr>
              <a:t>Uses-allocator construction</a:t>
            </a:r>
            <a:endParaRPr lang="en-US" altLang="zh-TW" dirty="0"/>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dirty="0">
                <a:latin typeface="Inter"/>
              </a:rPr>
              <a:t>First p</a:t>
            </a:r>
            <a:r>
              <a:rPr lang="en-US" altLang="zh-TW" b="0" i="0" dirty="0">
                <a:effectLst/>
                <a:latin typeface="Inter"/>
              </a:rPr>
              <a:t>roposed in </a:t>
            </a:r>
            <a:r>
              <a:rPr lang="en-US" altLang="zh-TW" b="0" i="0" u="none" strike="noStrike" dirty="0">
                <a:solidFill>
                  <a:srgbClr val="2388F6"/>
                </a:solidFill>
                <a:effectLst/>
                <a:latin typeface="Inter"/>
                <a:hlinkClick r:id="rId2"/>
              </a:rPr>
              <a:t>N2982</a:t>
            </a:r>
            <a:endParaRPr lang="en-US" altLang="zh-TW" sz="1600" b="0" i="0" u="none" strike="noStrike" dirty="0">
              <a:effectLst/>
              <a:latin typeface="Inter"/>
            </a:endParaRPr>
          </a:p>
          <a:p>
            <a:pPr lvl="1"/>
            <a:r>
              <a:rPr lang="en-US" altLang="zh-TW" b="0" i="0" dirty="0">
                <a:effectLst/>
                <a:latin typeface="Inter"/>
              </a:rPr>
              <a:t>Trying to pass allocator to element/</a:t>
            </a:r>
            <a:r>
              <a:rPr lang="en-US" altLang="zh-TW" b="0" i="0" dirty="0" err="1">
                <a:effectLst/>
                <a:latin typeface="Inter"/>
              </a:rPr>
              <a:t>subcontainers</a:t>
            </a:r>
            <a:endParaRPr lang="en-US" altLang="zh-TW" b="0" i="0" dirty="0">
              <a:effectLst/>
              <a:latin typeface="Inter"/>
            </a:endParaRPr>
          </a:p>
          <a:p>
            <a:pPr lvl="1"/>
            <a:r>
              <a:rPr lang="en-US" altLang="zh-TW" b="0" i="0" dirty="0">
                <a:effectLst/>
                <a:latin typeface="Inter"/>
              </a:rPr>
              <a:t>Trying to unify the allocation process within </a:t>
            </a:r>
            <a:r>
              <a:rPr lang="en-US" altLang="zh-TW" b="0" i="0" dirty="0" err="1">
                <a:effectLst/>
                <a:latin typeface="Inter"/>
              </a:rPr>
              <a:t>AllocatorAwareContainer</a:t>
            </a:r>
            <a:endParaRPr lang="en-US" altLang="zh-TW" b="0" i="0" dirty="0">
              <a:effectLst/>
              <a:latin typeface="Inter"/>
            </a:endParaRPr>
          </a:p>
          <a:p>
            <a:r>
              <a:rPr lang="en-US" altLang="zh-TW" b="0" i="0" dirty="0">
                <a:effectLst/>
                <a:latin typeface="Inter"/>
              </a:rPr>
              <a:t>It's a convention of how to pass allocator to a constructor</a:t>
            </a:r>
          </a:p>
          <a:p>
            <a:r>
              <a:rPr lang="en-US" altLang="zh-TW" b="0" i="0" dirty="0">
                <a:effectLst/>
                <a:latin typeface="Inter"/>
              </a:rPr>
              <a:t>The standard (</a:t>
            </a:r>
            <a:r>
              <a:rPr lang="en-US" altLang="zh-TW" b="0" i="0" u="sng" dirty="0">
                <a:solidFill>
                  <a:srgbClr val="2388F6"/>
                </a:solidFill>
                <a:effectLst/>
                <a:latin typeface="Inter"/>
                <a:hlinkClick r:id="rId3"/>
              </a:rPr>
              <a:t>N4950</a:t>
            </a:r>
            <a:r>
              <a:rPr lang="en-US" altLang="zh-TW" b="0" i="0" dirty="0">
                <a:effectLst/>
                <a:latin typeface="Inter"/>
              </a:rPr>
              <a:t>) ensure PMR allocator will follow this convention</a:t>
            </a:r>
          </a:p>
          <a:p>
            <a:pPr lvl="1"/>
            <a:r>
              <a:rPr lang="en-US" altLang="zh-TW" b="0" i="0" dirty="0">
                <a:effectLst/>
                <a:latin typeface="Inter"/>
              </a:rPr>
              <a:t>There is no guarantee that STL containers will use it.</a:t>
            </a:r>
          </a:p>
          <a:p>
            <a:pPr lvl="1"/>
            <a:r>
              <a:rPr lang="en-US" altLang="zh-TW" dirty="0">
                <a:latin typeface="Inter"/>
              </a:rPr>
              <a:t>But most implementations follow it for all container allocation.</a:t>
            </a:r>
          </a:p>
          <a:p>
            <a:pPr lvl="2"/>
            <a:endParaRPr lang="en-US" altLang="zh-TW" b="0" i="0" dirty="0">
              <a:effectLst/>
              <a:latin typeface="Inter"/>
            </a:endParaRPr>
          </a:p>
        </p:txBody>
      </p:sp>
    </p:spTree>
    <p:extLst>
      <p:ext uri="{BB962C8B-B14F-4D97-AF65-F5344CB8AC3E}">
        <p14:creationId xmlns:p14="http://schemas.microsoft.com/office/powerpoint/2010/main" val="13812944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b="0" i="0" dirty="0">
                <a:effectLst/>
                <a:latin typeface="ui-monospace"/>
              </a:rPr>
              <a:t>Uses-allocator construction</a:t>
            </a:r>
            <a:endParaRPr lang="en-US" altLang="zh-TW" dirty="0"/>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dirty="0">
                <a:latin typeface="Inter"/>
              </a:rPr>
              <a:t>There are three conventions:</a:t>
            </a:r>
          </a:p>
          <a:p>
            <a:pPr lvl="1"/>
            <a:r>
              <a:rPr lang="en-US" altLang="zh-TW" dirty="0">
                <a:latin typeface="Inter"/>
              </a:rPr>
              <a:t>If T does not use a compatible allocator ('std::</a:t>
            </a:r>
            <a:r>
              <a:rPr lang="en-US" altLang="zh-TW" dirty="0" err="1">
                <a:latin typeface="Inter"/>
              </a:rPr>
              <a:t>uses_allocator_v</a:t>
            </a:r>
            <a:r>
              <a:rPr lang="en-US" altLang="zh-TW" dirty="0">
                <a:latin typeface="Inter"/>
              </a:rPr>
              <a:t>&lt;T, </a:t>
            </a:r>
            <a:r>
              <a:rPr lang="en-US" altLang="zh-TW" dirty="0" err="1">
                <a:latin typeface="Inter"/>
              </a:rPr>
              <a:t>Alloc</a:t>
            </a:r>
            <a:r>
              <a:rPr lang="en-US" altLang="zh-TW" dirty="0">
                <a:latin typeface="Inter"/>
              </a:rPr>
              <a:t>&gt;' is false), then '</a:t>
            </a:r>
            <a:r>
              <a:rPr lang="en-US" altLang="zh-TW" dirty="0" err="1">
                <a:latin typeface="Inter"/>
              </a:rPr>
              <a:t>alloc</a:t>
            </a:r>
            <a:r>
              <a:rPr lang="en-US" altLang="zh-TW" dirty="0">
                <a:latin typeface="Inter"/>
              </a:rPr>
              <a:t>' is ignored.</a:t>
            </a:r>
          </a:p>
          <a:p>
            <a:pPr lvl="1"/>
            <a:r>
              <a:rPr lang="en-US" altLang="zh-TW" dirty="0">
                <a:latin typeface="Inter"/>
              </a:rPr>
              <a:t>Otherwise, 'std::</a:t>
            </a:r>
            <a:r>
              <a:rPr lang="en-US" altLang="zh-TW" dirty="0" err="1">
                <a:latin typeface="Inter"/>
              </a:rPr>
              <a:t>uses_allocator_v</a:t>
            </a:r>
            <a:r>
              <a:rPr lang="en-US" altLang="zh-TW" dirty="0">
                <a:latin typeface="Inter"/>
              </a:rPr>
              <a:t>&lt;T, </a:t>
            </a:r>
            <a:r>
              <a:rPr lang="en-US" altLang="zh-TW" dirty="0" err="1">
                <a:latin typeface="Inter"/>
              </a:rPr>
              <a:t>Alloc</a:t>
            </a:r>
            <a:r>
              <a:rPr lang="en-US" altLang="zh-TW" dirty="0">
                <a:latin typeface="Inter"/>
              </a:rPr>
              <a:t>&gt;' is true, and</a:t>
            </a:r>
          </a:p>
          <a:p>
            <a:pPr lvl="2"/>
            <a:r>
              <a:rPr lang="en-US" altLang="zh-TW" dirty="0">
                <a:latin typeface="Inter"/>
              </a:rPr>
              <a:t>If the format of constructor is 'T(std::</a:t>
            </a:r>
            <a:r>
              <a:rPr lang="en-US" altLang="zh-TW" dirty="0" err="1">
                <a:latin typeface="Inter"/>
              </a:rPr>
              <a:t>allocator_arg</a:t>
            </a:r>
            <a:r>
              <a:rPr lang="en-US" altLang="zh-TW" dirty="0">
                <a:latin typeface="Inter"/>
              </a:rPr>
              <a:t>, </a:t>
            </a:r>
            <a:r>
              <a:rPr lang="en-US" altLang="zh-TW" dirty="0" err="1">
                <a:latin typeface="Inter"/>
              </a:rPr>
              <a:t>alloc</a:t>
            </a:r>
            <a:r>
              <a:rPr lang="en-US" altLang="zh-TW" dirty="0">
                <a:latin typeface="Inter"/>
              </a:rPr>
              <a:t>, </a:t>
            </a:r>
            <a:r>
              <a:rPr lang="en-US" altLang="zh-TW" dirty="0" err="1">
                <a:latin typeface="Inter"/>
              </a:rPr>
              <a:t>args</a:t>
            </a:r>
            <a:r>
              <a:rPr lang="en-US" altLang="zh-TW" dirty="0">
                <a:latin typeface="Inter"/>
              </a:rPr>
              <a:t>...)', uses this form.</a:t>
            </a:r>
          </a:p>
          <a:p>
            <a:pPr lvl="3"/>
            <a:r>
              <a:rPr lang="en-US" altLang="zh-TW" dirty="0">
                <a:latin typeface="Inter"/>
              </a:rPr>
              <a:t>It's called </a:t>
            </a:r>
            <a:r>
              <a:rPr lang="en-US" altLang="zh-TW" b="0" i="0" dirty="0">
                <a:effectLst/>
                <a:latin typeface="Inter"/>
              </a:rPr>
              <a:t>leading-allocator.</a:t>
            </a:r>
            <a:endParaRPr lang="en-US" altLang="zh-TW" dirty="0">
              <a:latin typeface="Inter"/>
            </a:endParaRPr>
          </a:p>
          <a:p>
            <a:pPr lvl="2"/>
            <a:r>
              <a:rPr lang="en-US" altLang="zh-TW" dirty="0">
                <a:latin typeface="Inter"/>
              </a:rPr>
              <a:t>Or, if the format of constructor is 'T(</a:t>
            </a:r>
            <a:r>
              <a:rPr lang="en-US" altLang="zh-TW" dirty="0" err="1">
                <a:latin typeface="Inter"/>
              </a:rPr>
              <a:t>args</a:t>
            </a:r>
            <a:r>
              <a:rPr lang="en-US" altLang="zh-TW" dirty="0">
                <a:latin typeface="Inter"/>
              </a:rPr>
              <a:t>..., </a:t>
            </a:r>
            <a:r>
              <a:rPr lang="en-US" altLang="zh-TW" dirty="0" err="1">
                <a:latin typeface="Inter"/>
              </a:rPr>
              <a:t>alloc</a:t>
            </a:r>
            <a:r>
              <a:rPr lang="en-US" altLang="zh-TW" dirty="0">
                <a:latin typeface="Inter"/>
              </a:rPr>
              <a:t>)', uses this form.</a:t>
            </a:r>
          </a:p>
          <a:p>
            <a:pPr lvl="3"/>
            <a:r>
              <a:rPr lang="en-US" altLang="zh-TW" dirty="0">
                <a:latin typeface="Inter"/>
              </a:rPr>
              <a:t>It's called trailing-allocator.</a:t>
            </a:r>
          </a:p>
          <a:p>
            <a:pPr lvl="2"/>
            <a:r>
              <a:rPr lang="en-US" altLang="zh-TW" dirty="0">
                <a:latin typeface="Inter"/>
              </a:rPr>
              <a:t>Otherwise, the program is ill-formed </a:t>
            </a:r>
          </a:p>
          <a:p>
            <a:pPr lvl="3"/>
            <a:r>
              <a:rPr lang="en-US" altLang="zh-TW" dirty="0">
                <a:latin typeface="Inter"/>
              </a:rPr>
              <a:t>This means 'std::</a:t>
            </a:r>
            <a:r>
              <a:rPr lang="en-US" altLang="zh-TW" dirty="0" err="1">
                <a:latin typeface="Inter"/>
              </a:rPr>
              <a:t>uses_allocator_v</a:t>
            </a:r>
            <a:r>
              <a:rPr lang="en-US" altLang="zh-TW" dirty="0">
                <a:latin typeface="Inter"/>
              </a:rPr>
              <a:t>&lt;T, </a:t>
            </a:r>
            <a:r>
              <a:rPr lang="en-US" altLang="zh-TW" dirty="0" err="1">
                <a:latin typeface="Inter"/>
              </a:rPr>
              <a:t>Alloc</a:t>
            </a:r>
            <a:r>
              <a:rPr lang="en-US" altLang="zh-TW" dirty="0">
                <a:latin typeface="Inter"/>
              </a:rPr>
              <a:t>&gt;' is true, but T can't actually use the allocator</a:t>
            </a:r>
          </a:p>
        </p:txBody>
      </p:sp>
    </p:spTree>
    <p:extLst>
      <p:ext uri="{BB962C8B-B14F-4D97-AF65-F5344CB8AC3E}">
        <p14:creationId xmlns:p14="http://schemas.microsoft.com/office/powerpoint/2010/main" val="34605019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Details of the allocation process</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dirty="0">
                <a:latin typeface="Inter"/>
              </a:rPr>
              <a:t>Remark: </a:t>
            </a:r>
            <a:r>
              <a:rPr lang="en-US" altLang="zh-TW" b="0" i="0" dirty="0">
                <a:effectLst/>
                <a:latin typeface="Inter"/>
              </a:rPr>
              <a:t>'</a:t>
            </a:r>
            <a:r>
              <a:rPr lang="en-US" altLang="zh-TW" b="0" i="0" dirty="0" err="1">
                <a:effectLst/>
                <a:latin typeface="Inter"/>
              </a:rPr>
              <a:t>allocator_traits</a:t>
            </a:r>
            <a:r>
              <a:rPr lang="en-US" altLang="zh-TW" b="0" i="0" dirty="0">
                <a:effectLst/>
                <a:latin typeface="Inter"/>
              </a:rPr>
              <a:t>::construct' will call</a:t>
            </a:r>
          </a:p>
          <a:p>
            <a:pPr lvl="1"/>
            <a:r>
              <a:rPr lang="en-US" altLang="zh-TW" b="0" i="0" dirty="0">
                <a:effectLst/>
                <a:latin typeface="Inter"/>
              </a:rPr>
              <a:t>'</a:t>
            </a:r>
            <a:r>
              <a:rPr lang="en-US" altLang="zh-TW" b="0" i="0" dirty="0" err="1">
                <a:effectLst/>
                <a:latin typeface="Inter"/>
              </a:rPr>
              <a:t>alloc.construct</a:t>
            </a:r>
            <a:r>
              <a:rPr lang="en-US" altLang="zh-TW" b="0" i="0" dirty="0">
                <a:effectLst/>
                <a:latin typeface="Inter"/>
              </a:rPr>
              <a:t>(p, std​::​forward&lt;</a:t>
            </a:r>
            <a:r>
              <a:rPr lang="en-US" altLang="zh-TW" b="0" i="0" dirty="0" err="1">
                <a:effectLst/>
                <a:latin typeface="Inter"/>
              </a:rPr>
              <a:t>Args</a:t>
            </a:r>
            <a:r>
              <a:rPr lang="en-US" altLang="zh-TW" b="0" i="0" dirty="0">
                <a:effectLst/>
                <a:latin typeface="Inter"/>
              </a:rPr>
              <a:t>&gt;(</a:t>
            </a:r>
            <a:r>
              <a:rPr lang="en-US" altLang="zh-TW" b="0" i="0" dirty="0" err="1">
                <a:effectLst/>
                <a:latin typeface="Inter"/>
              </a:rPr>
              <a:t>args</a:t>
            </a:r>
            <a:r>
              <a:rPr lang="en-US" altLang="zh-TW" b="0" i="0" dirty="0">
                <a:effectLst/>
                <a:latin typeface="Inter"/>
              </a:rPr>
              <a:t>)...)' if that call is well-formed</a:t>
            </a:r>
          </a:p>
          <a:p>
            <a:pPr lvl="1"/>
            <a:r>
              <a:rPr lang="en-US" altLang="zh-TW" b="0" i="0" dirty="0">
                <a:effectLst/>
                <a:latin typeface="Inter"/>
              </a:rPr>
              <a:t>otherwise, invokes '</a:t>
            </a:r>
            <a:r>
              <a:rPr lang="en-US" altLang="zh-TW" b="0" i="0" dirty="0" err="1">
                <a:effectLst/>
                <a:latin typeface="Inter"/>
              </a:rPr>
              <a:t>construct_at</a:t>
            </a:r>
            <a:r>
              <a:rPr lang="en-US" altLang="zh-TW" b="0" i="0" dirty="0">
                <a:effectLst/>
                <a:latin typeface="Inter"/>
              </a:rPr>
              <a:t>(p, std​::​forward&lt;</a:t>
            </a:r>
            <a:r>
              <a:rPr lang="en-US" altLang="zh-TW" b="0" i="0" dirty="0" err="1">
                <a:effectLst/>
                <a:latin typeface="Inter"/>
              </a:rPr>
              <a:t>Args</a:t>
            </a:r>
            <a:r>
              <a:rPr lang="en-US" altLang="zh-TW" b="0" i="0" dirty="0">
                <a:effectLst/>
                <a:latin typeface="Inter"/>
              </a:rPr>
              <a:t>&gt;(</a:t>
            </a:r>
            <a:r>
              <a:rPr lang="en-US" altLang="zh-TW" b="0" i="0" dirty="0" err="1">
                <a:effectLst/>
                <a:latin typeface="Inter"/>
              </a:rPr>
              <a:t>args</a:t>
            </a:r>
            <a:r>
              <a:rPr lang="en-US" altLang="zh-TW" b="0" i="0" dirty="0">
                <a:effectLst/>
                <a:latin typeface="Inter"/>
              </a:rPr>
              <a:t>)...)'</a:t>
            </a:r>
          </a:p>
          <a:p>
            <a:r>
              <a:rPr lang="en-US" altLang="zh-TW" dirty="0">
                <a:latin typeface="Inter"/>
              </a:rPr>
              <a:t>So the default procedure for the whole allocation is:</a:t>
            </a:r>
          </a:p>
          <a:p>
            <a:pPr marL="914400" lvl="1" indent="-457200">
              <a:buFont typeface="+mj-lt"/>
              <a:buAutoNum type="arabicPeriod"/>
            </a:pPr>
            <a:r>
              <a:rPr lang="en-US" altLang="zh-TW" dirty="0">
                <a:latin typeface="Inter"/>
              </a:rPr>
              <a:t>Called '</a:t>
            </a:r>
            <a:r>
              <a:rPr lang="en-US" altLang="zh-TW" dirty="0" err="1">
                <a:latin typeface="Inter"/>
              </a:rPr>
              <a:t>alloc.construct</a:t>
            </a:r>
            <a:r>
              <a:rPr lang="en-US" altLang="zh-TW" dirty="0">
                <a:latin typeface="Inter"/>
              </a:rPr>
              <a:t>' or '</a:t>
            </a:r>
            <a:r>
              <a:rPr lang="en-US" altLang="zh-TW" dirty="0" err="1">
                <a:latin typeface="Inter"/>
              </a:rPr>
              <a:t>construct_at</a:t>
            </a:r>
            <a:r>
              <a:rPr lang="en-US" altLang="zh-TW" dirty="0">
                <a:latin typeface="Inter"/>
              </a:rPr>
              <a:t>'</a:t>
            </a:r>
            <a:r>
              <a:rPr lang="zh-TW" altLang="en-US" dirty="0">
                <a:latin typeface="Inter"/>
              </a:rPr>
              <a:t> </a:t>
            </a:r>
            <a:r>
              <a:rPr lang="en-US" altLang="zh-TW" dirty="0">
                <a:latin typeface="Inter"/>
              </a:rPr>
              <a:t>(</a:t>
            </a:r>
            <a:r>
              <a:rPr lang="en-US" altLang="zh-TW" dirty="0">
                <a:latin typeface="Inter"/>
                <a:hlinkClick r:id="rId2"/>
              </a:rPr>
              <a:t>link</a:t>
            </a:r>
            <a:r>
              <a:rPr lang="en-US" altLang="zh-TW" dirty="0">
                <a:latin typeface="Inter"/>
              </a:rPr>
              <a:t>)</a:t>
            </a:r>
          </a:p>
          <a:p>
            <a:pPr lvl="2"/>
            <a:r>
              <a:rPr lang="en-US" altLang="zh-TW" dirty="0">
                <a:latin typeface="Inter"/>
              </a:rPr>
              <a:t>If the allocator didn’t be specified, generally the default is 'std::allocator'.</a:t>
            </a:r>
          </a:p>
          <a:p>
            <a:pPr lvl="2"/>
            <a:r>
              <a:rPr lang="en-US" altLang="zh-TW" dirty="0">
                <a:latin typeface="Inter"/>
              </a:rPr>
              <a:t>But due to 'std::allocator::construct' is removed in C++20, so the SFINAE would failed.</a:t>
            </a:r>
          </a:p>
          <a:p>
            <a:pPr lvl="3"/>
            <a:r>
              <a:rPr lang="en-US" altLang="zh-TW" dirty="0">
                <a:latin typeface="Inter"/>
              </a:rPr>
              <a:t>Check </a:t>
            </a:r>
            <a:r>
              <a:rPr lang="en-US" altLang="zh-TW" dirty="0">
                <a:latin typeface="Inter"/>
                <a:hlinkClick r:id="rId3"/>
              </a:rPr>
              <a:t>this answer</a:t>
            </a:r>
            <a:r>
              <a:rPr lang="en-US" altLang="zh-TW" dirty="0">
                <a:latin typeface="Inter"/>
              </a:rPr>
              <a:t> for more detail.</a:t>
            </a:r>
          </a:p>
          <a:p>
            <a:pPr lvl="2"/>
            <a:r>
              <a:rPr lang="en-US" altLang="zh-TW" dirty="0">
                <a:latin typeface="Inter"/>
              </a:rPr>
              <a:t>Thus it will fall in the 'std::</a:t>
            </a:r>
            <a:r>
              <a:rPr lang="en-US" altLang="zh-TW" dirty="0" err="1">
                <a:latin typeface="Inter"/>
              </a:rPr>
              <a:t>construct_at</a:t>
            </a:r>
            <a:r>
              <a:rPr lang="en-US" altLang="zh-TW" dirty="0">
                <a:latin typeface="Inter"/>
              </a:rPr>
              <a:t>'.</a:t>
            </a:r>
          </a:p>
          <a:p>
            <a:pPr marL="914400" lvl="1" indent="-457200">
              <a:buFont typeface="+mj-lt"/>
              <a:buAutoNum type="arabicPeriod"/>
            </a:pPr>
            <a:r>
              <a:rPr lang="en-US" altLang="zh-TW" dirty="0">
                <a:latin typeface="Inter"/>
              </a:rPr>
              <a:t>Check '</a:t>
            </a:r>
            <a:r>
              <a:rPr lang="en-US" altLang="zh-TW" dirty="0" err="1">
                <a:latin typeface="Inter"/>
              </a:rPr>
              <a:t>uses_allocator_v</a:t>
            </a:r>
            <a:r>
              <a:rPr lang="en-US" altLang="zh-TW" dirty="0">
                <a:latin typeface="Inter"/>
              </a:rPr>
              <a:t>' (</a:t>
            </a:r>
            <a:r>
              <a:rPr lang="en-US" altLang="zh-TW" dirty="0">
                <a:latin typeface="Inter"/>
                <a:hlinkClick r:id="rId4"/>
              </a:rPr>
              <a:t>link</a:t>
            </a:r>
            <a:r>
              <a:rPr lang="en-US" altLang="zh-TW" dirty="0">
                <a:latin typeface="Inter"/>
              </a:rPr>
              <a:t>)</a:t>
            </a:r>
          </a:p>
          <a:p>
            <a:pPr lvl="2"/>
            <a:r>
              <a:rPr lang="en-US" altLang="zh-TW" dirty="0">
                <a:latin typeface="Inter"/>
              </a:rPr>
              <a:t>A little tricky here, check the article for explanation.</a:t>
            </a:r>
          </a:p>
          <a:p>
            <a:pPr marL="914400" lvl="1" indent="-457200">
              <a:buFont typeface="+mj-lt"/>
              <a:buAutoNum type="arabicPeriod"/>
            </a:pPr>
            <a:r>
              <a:rPr lang="en-US" altLang="zh-TW" dirty="0">
                <a:latin typeface="Inter"/>
              </a:rPr>
              <a:t>Choose leading / trailing / no-</a:t>
            </a:r>
            <a:r>
              <a:rPr lang="en-US" altLang="zh-TW" dirty="0" err="1">
                <a:latin typeface="Inter"/>
              </a:rPr>
              <a:t>alloc</a:t>
            </a:r>
            <a:r>
              <a:rPr lang="en-US" altLang="zh-TW" dirty="0">
                <a:latin typeface="Inter"/>
              </a:rPr>
              <a:t> (</a:t>
            </a:r>
            <a:r>
              <a:rPr lang="en-US" altLang="zh-TW" dirty="0">
                <a:latin typeface="Inter"/>
                <a:hlinkClick r:id="rId5"/>
              </a:rPr>
              <a:t>link</a:t>
            </a:r>
            <a:r>
              <a:rPr lang="en-US" altLang="zh-TW" dirty="0">
                <a:latin typeface="Inter"/>
              </a:rPr>
              <a:t>)</a:t>
            </a:r>
          </a:p>
          <a:p>
            <a:pPr marL="914400" lvl="1" indent="-457200">
              <a:buFont typeface="+mj-lt"/>
              <a:buAutoNum type="arabicPeriod"/>
            </a:pPr>
            <a:endParaRPr lang="en-US" altLang="zh-TW" dirty="0">
              <a:latin typeface="Inter"/>
            </a:endParaRPr>
          </a:p>
        </p:txBody>
      </p:sp>
      <p:sp>
        <p:nvSpPr>
          <p:cNvPr id="5" name="矩形 4">
            <a:extLst>
              <a:ext uri="{FF2B5EF4-FFF2-40B4-BE49-F238E27FC236}">
                <a16:creationId xmlns:a16="http://schemas.microsoft.com/office/drawing/2014/main" id="{2A3CD448-0F05-3A06-0FBD-289CEF6E3841}"/>
              </a:ext>
            </a:extLst>
          </p:cNvPr>
          <p:cNvSpPr/>
          <p:nvPr/>
        </p:nvSpPr>
        <p:spPr>
          <a:xfrm>
            <a:off x="1128874" y="5283092"/>
            <a:ext cx="6414926" cy="120978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B215B287-241A-FDE4-399C-2F5A8A3788AE}"/>
              </a:ext>
            </a:extLst>
          </p:cNvPr>
          <p:cNvSpPr txBox="1"/>
          <p:nvPr/>
        </p:nvSpPr>
        <p:spPr>
          <a:xfrm>
            <a:off x="7543800" y="5703317"/>
            <a:ext cx="2972545" cy="369332"/>
          </a:xfrm>
          <a:prstGeom prst="rect">
            <a:avLst/>
          </a:prstGeom>
          <a:noFill/>
        </p:spPr>
        <p:txBody>
          <a:bodyPr wrap="none" rtlCol="0">
            <a:spAutoFit/>
          </a:bodyPr>
          <a:lstStyle/>
          <a:p>
            <a:r>
              <a:rPr lang="en-US" altLang="zh-TW" dirty="0">
                <a:solidFill>
                  <a:srgbClr val="FF0000"/>
                </a:solidFill>
              </a:rPr>
              <a:t>Uses-allocator construction</a:t>
            </a:r>
            <a:endParaRPr lang="zh-TW" altLang="en-US" dirty="0">
              <a:solidFill>
                <a:srgbClr val="FF0000"/>
              </a:solidFill>
            </a:endParaRPr>
          </a:p>
        </p:txBody>
      </p:sp>
      <p:sp>
        <p:nvSpPr>
          <p:cNvPr id="7" name="文字方塊 6">
            <a:extLst>
              <a:ext uri="{FF2B5EF4-FFF2-40B4-BE49-F238E27FC236}">
                <a16:creationId xmlns:a16="http://schemas.microsoft.com/office/drawing/2014/main" id="{73F42A60-635E-3AEC-50BF-09F99873E547}"/>
              </a:ext>
            </a:extLst>
          </p:cNvPr>
          <p:cNvSpPr txBox="1"/>
          <p:nvPr/>
        </p:nvSpPr>
        <p:spPr>
          <a:xfrm>
            <a:off x="7543800" y="5997221"/>
            <a:ext cx="3584636" cy="415498"/>
          </a:xfrm>
          <a:prstGeom prst="rect">
            <a:avLst/>
          </a:prstGeom>
          <a:noFill/>
        </p:spPr>
        <p:txBody>
          <a:bodyPr wrap="none" rtlCol="0">
            <a:spAutoFit/>
          </a:bodyPr>
          <a:lstStyle/>
          <a:p>
            <a:r>
              <a:rPr lang="en-US" altLang="zh-TW" sz="1050" dirty="0">
                <a:solidFill>
                  <a:srgbClr val="FF0000"/>
                </a:solidFill>
              </a:rPr>
              <a:t>Not guarantee by standard, but most implementation use it</a:t>
            </a:r>
          </a:p>
          <a:p>
            <a:r>
              <a:rPr lang="en-US" altLang="zh-TW" sz="1050" dirty="0">
                <a:solidFill>
                  <a:srgbClr val="FF0000"/>
                </a:solidFill>
              </a:rPr>
              <a:t>Or said, there is only PMR allocator would get here.</a:t>
            </a:r>
            <a:endParaRPr lang="zh-TW" altLang="en-US" sz="1050" dirty="0">
              <a:solidFill>
                <a:srgbClr val="FF0000"/>
              </a:solidFill>
            </a:endParaRPr>
          </a:p>
        </p:txBody>
      </p:sp>
      <p:cxnSp>
        <p:nvCxnSpPr>
          <p:cNvPr id="9" name="直線接點 8">
            <a:extLst>
              <a:ext uri="{FF2B5EF4-FFF2-40B4-BE49-F238E27FC236}">
                <a16:creationId xmlns:a16="http://schemas.microsoft.com/office/drawing/2014/main" id="{09035E9A-7822-1B70-3B33-C04265A17FB4}"/>
              </a:ext>
            </a:extLst>
          </p:cNvPr>
          <p:cNvCxnSpPr/>
          <p:nvPr/>
        </p:nvCxnSpPr>
        <p:spPr>
          <a:xfrm>
            <a:off x="7607300" y="6019092"/>
            <a:ext cx="3384550" cy="0"/>
          </a:xfrm>
          <a:prstGeom prst="line">
            <a:avLst/>
          </a:prstGeom>
          <a:ln w="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1439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Details of the allocation process</a:t>
            </a:r>
          </a:p>
        </p:txBody>
      </p:sp>
      <p:pic>
        <p:nvPicPr>
          <p:cNvPr id="8" name="圖片 7">
            <a:extLst>
              <a:ext uri="{FF2B5EF4-FFF2-40B4-BE49-F238E27FC236}">
                <a16:creationId xmlns:a16="http://schemas.microsoft.com/office/drawing/2014/main" id="{BAE7D221-1A55-FA67-3914-0C667AEF5A9C}"/>
              </a:ext>
            </a:extLst>
          </p:cNvPr>
          <p:cNvPicPr>
            <a:picLocks noChangeAspect="1"/>
          </p:cNvPicPr>
          <p:nvPr/>
        </p:nvPicPr>
        <p:blipFill>
          <a:blip r:embed="rId2"/>
          <a:stretch>
            <a:fillRect/>
          </a:stretch>
        </p:blipFill>
        <p:spPr>
          <a:xfrm>
            <a:off x="192591" y="1690688"/>
            <a:ext cx="11806818" cy="4449762"/>
          </a:xfrm>
          <a:prstGeom prst="rect">
            <a:avLst/>
          </a:prstGeom>
        </p:spPr>
      </p:pic>
    </p:spTree>
    <p:extLst>
      <p:ext uri="{BB962C8B-B14F-4D97-AF65-F5344CB8AC3E}">
        <p14:creationId xmlns:p14="http://schemas.microsoft.com/office/powerpoint/2010/main" val="38538438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Allocator/PMR for user defined class</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825624"/>
            <a:ext cx="11156950" cy="4857917"/>
          </a:xfrm>
        </p:spPr>
        <p:txBody>
          <a:bodyPr>
            <a:normAutofit/>
          </a:bodyPr>
          <a:lstStyle/>
          <a:p>
            <a:r>
              <a:rPr lang="en-US" altLang="zh-TW" dirty="0"/>
              <a:t>To make custom class work with STL container</a:t>
            </a:r>
            <a:r>
              <a:rPr lang="zh-TW" altLang="en-US" dirty="0"/>
              <a:t> </a:t>
            </a:r>
            <a:r>
              <a:rPr lang="en-US" altLang="zh-TW" dirty="0"/>
              <a:t>that specify allocator.</a:t>
            </a:r>
          </a:p>
          <a:p>
            <a:pPr lvl="1"/>
            <a:r>
              <a:rPr lang="en-US" altLang="zh-TW" dirty="0"/>
              <a:t>You need to let container know your class can use allocator.</a:t>
            </a:r>
          </a:p>
          <a:p>
            <a:r>
              <a:rPr lang="en-US" altLang="zh-TW" dirty="0"/>
              <a:t>Jason Turner called these class "Allocator-aware type".</a:t>
            </a:r>
          </a:p>
          <a:p>
            <a:pPr lvl="1"/>
            <a:r>
              <a:rPr lang="en-US" altLang="zh-TW" dirty="0"/>
              <a:t>Colloquial term, not specified in spec.</a:t>
            </a:r>
          </a:p>
          <a:p>
            <a:pPr lvl="1"/>
            <a:r>
              <a:rPr lang="en-US" altLang="zh-TW" dirty="0"/>
              <a:t>Different with </a:t>
            </a:r>
            <a:r>
              <a:rPr lang="en-US" altLang="zh-TW" dirty="0" err="1"/>
              <a:t>AllocatorAwareContainer</a:t>
            </a:r>
            <a:endParaRPr lang="en-US" altLang="zh-TW" dirty="0"/>
          </a:p>
          <a:p>
            <a:r>
              <a:rPr lang="en-US" altLang="zh-TW" dirty="0"/>
              <a:t>2 requirement:</a:t>
            </a:r>
          </a:p>
          <a:p>
            <a:pPr lvl="1"/>
            <a:r>
              <a:rPr lang="en-US" altLang="zh-TW" b="0" i="0" dirty="0">
                <a:effectLst/>
                <a:latin typeface="ui-monospace"/>
              </a:rPr>
              <a:t>'std::</a:t>
            </a:r>
            <a:r>
              <a:rPr lang="en-US" altLang="zh-TW" b="0" i="0" dirty="0" err="1">
                <a:effectLst/>
                <a:latin typeface="ui-monospace"/>
              </a:rPr>
              <a:t>uses_allocator</a:t>
            </a:r>
            <a:r>
              <a:rPr lang="en-US" altLang="zh-TW" b="0" i="0" dirty="0">
                <a:effectLst/>
                <a:latin typeface="ui-monospace"/>
              </a:rPr>
              <a:t>&lt;</a:t>
            </a:r>
            <a:r>
              <a:rPr lang="en-US" altLang="zh-TW" b="0" i="0" dirty="0" err="1">
                <a:effectLst/>
                <a:latin typeface="ui-monospace"/>
              </a:rPr>
              <a:t>MyClass</a:t>
            </a:r>
            <a:r>
              <a:rPr lang="en-US" altLang="zh-TW" b="0" i="0" dirty="0">
                <a:effectLst/>
                <a:latin typeface="ui-monospace"/>
              </a:rPr>
              <a:t>, </a:t>
            </a:r>
            <a:r>
              <a:rPr lang="en-US" altLang="zh-TW" b="0" i="0" dirty="0" err="1">
                <a:effectLst/>
                <a:latin typeface="ui-monospace"/>
              </a:rPr>
              <a:t>Alloc</a:t>
            </a:r>
            <a:r>
              <a:rPr lang="en-US" altLang="zh-TW" b="0" i="0" dirty="0">
                <a:effectLst/>
                <a:latin typeface="ui-monospace"/>
              </a:rPr>
              <a:t>&gt;' need to be '</a:t>
            </a:r>
            <a:r>
              <a:rPr lang="en-US" altLang="zh-TW" b="0" i="0" dirty="0" err="1">
                <a:effectLst/>
                <a:latin typeface="ui-monospace"/>
              </a:rPr>
              <a:t>true_type</a:t>
            </a:r>
            <a:r>
              <a:rPr lang="en-US" altLang="zh-TW" b="0" i="0" dirty="0">
                <a:effectLst/>
                <a:latin typeface="ui-monospace"/>
              </a:rPr>
              <a:t>'</a:t>
            </a:r>
          </a:p>
          <a:p>
            <a:pPr lvl="1"/>
            <a:r>
              <a:rPr lang="en-US" altLang="zh-TW" dirty="0">
                <a:latin typeface="ui-monospace"/>
              </a:rPr>
              <a:t>Uses-allocator construction requires the ability to use your constructor.</a:t>
            </a:r>
            <a:endParaRPr lang="en-US" altLang="zh-TW" dirty="0"/>
          </a:p>
        </p:txBody>
      </p:sp>
    </p:spTree>
    <p:extLst>
      <p:ext uri="{BB962C8B-B14F-4D97-AF65-F5344CB8AC3E}">
        <p14:creationId xmlns:p14="http://schemas.microsoft.com/office/powerpoint/2010/main" val="39938148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0FB143-B5B6-F055-8CB4-F23A554892F7}"/>
              </a:ext>
            </a:extLst>
          </p:cNvPr>
          <p:cNvSpPr>
            <a:spLocks noGrp="1"/>
          </p:cNvSpPr>
          <p:nvPr>
            <p:ph type="title"/>
          </p:nvPr>
        </p:nvSpPr>
        <p:spPr/>
        <p:txBody>
          <a:bodyPr/>
          <a:lstStyle/>
          <a:p>
            <a:r>
              <a:rPr lang="en-US" altLang="zh-TW" dirty="0"/>
              <a:t>Allocator/PMR for user defined class</a:t>
            </a:r>
          </a:p>
        </p:txBody>
      </p:sp>
      <p:sp>
        <p:nvSpPr>
          <p:cNvPr id="3" name="內容版面配置區 2">
            <a:extLst>
              <a:ext uri="{FF2B5EF4-FFF2-40B4-BE49-F238E27FC236}">
                <a16:creationId xmlns:a16="http://schemas.microsoft.com/office/drawing/2014/main" id="{57E175BB-BB2F-2117-7F37-A15732BF7AC5}"/>
              </a:ext>
            </a:extLst>
          </p:cNvPr>
          <p:cNvSpPr>
            <a:spLocks noGrp="1"/>
          </p:cNvSpPr>
          <p:nvPr>
            <p:ph idx="1"/>
          </p:nvPr>
        </p:nvSpPr>
        <p:spPr>
          <a:xfrm>
            <a:off x="838200" y="1690688"/>
            <a:ext cx="11156950" cy="5121276"/>
          </a:xfrm>
        </p:spPr>
        <p:txBody>
          <a:bodyPr>
            <a:normAutofit/>
          </a:bodyPr>
          <a:lstStyle/>
          <a:p>
            <a:r>
              <a:rPr lang="en-US" altLang="zh-TW" dirty="0"/>
              <a:t>The format below is "user-defined class + STL container"</a:t>
            </a:r>
          </a:p>
          <a:p>
            <a:r>
              <a:rPr lang="en-US" altLang="zh-TW" dirty="0"/>
              <a:t>There are four options.</a:t>
            </a:r>
          </a:p>
          <a:p>
            <a:pPr lvl="1"/>
            <a:r>
              <a:rPr lang="en-US" altLang="zh-TW" dirty="0"/>
              <a:t>Traditional Allocator + Traditional Allocator</a:t>
            </a:r>
          </a:p>
          <a:p>
            <a:pPr lvl="2"/>
            <a:r>
              <a:rPr lang="en-US" altLang="zh-TW" dirty="0"/>
              <a:t>Pass the Allocator to the internal custom class using 'std::</a:t>
            </a:r>
            <a:r>
              <a:rPr lang="en-US" altLang="zh-TW" dirty="0" err="1"/>
              <a:t>scoped_allocator_adaptor</a:t>
            </a:r>
            <a:r>
              <a:rPr lang="en-US" altLang="zh-TW" dirty="0"/>
              <a:t>'</a:t>
            </a:r>
          </a:p>
          <a:p>
            <a:pPr lvl="1"/>
            <a:r>
              <a:rPr lang="en-US" altLang="zh-TW" dirty="0"/>
              <a:t>Traditional Allocator + </a:t>
            </a:r>
            <a:r>
              <a:rPr lang="en-US" altLang="zh-TW" dirty="0">
                <a:solidFill>
                  <a:srgbClr val="FF0000"/>
                </a:solidFill>
              </a:rPr>
              <a:t>PMR Allocator</a:t>
            </a:r>
          </a:p>
          <a:p>
            <a:pPr lvl="2"/>
            <a:r>
              <a:rPr lang="en-US" altLang="zh-TW" dirty="0"/>
              <a:t>Uses-allocator construction is guaranteed. </a:t>
            </a:r>
          </a:p>
          <a:p>
            <a:pPr lvl="2"/>
            <a:r>
              <a:rPr lang="en-US" altLang="zh-TW" dirty="0"/>
              <a:t>User defined class must be Allocator-aware type.</a:t>
            </a:r>
          </a:p>
          <a:p>
            <a:pPr lvl="1"/>
            <a:r>
              <a:rPr lang="en-US" altLang="zh-TW" dirty="0"/>
              <a:t>PMR Allocator + Traditional Allocator</a:t>
            </a:r>
          </a:p>
          <a:p>
            <a:pPr lvl="2"/>
            <a:r>
              <a:rPr lang="en-US" altLang="zh-TW" dirty="0"/>
              <a:t>Hard to implement since (new feature apply on old feature). But it's possible.</a:t>
            </a:r>
          </a:p>
          <a:p>
            <a:pPr lvl="1"/>
            <a:r>
              <a:rPr lang="en-US" altLang="zh-TW" dirty="0"/>
              <a:t>PMR Allocator + </a:t>
            </a:r>
            <a:r>
              <a:rPr lang="en-US" altLang="zh-TW" dirty="0">
                <a:solidFill>
                  <a:srgbClr val="FF0000"/>
                </a:solidFill>
              </a:rPr>
              <a:t>PMR Allocator</a:t>
            </a:r>
          </a:p>
          <a:p>
            <a:pPr lvl="2"/>
            <a:r>
              <a:rPr lang="en-US" altLang="zh-TW" dirty="0"/>
              <a:t>Uses-allocator construction is guaranteed. </a:t>
            </a:r>
          </a:p>
          <a:p>
            <a:pPr lvl="2"/>
            <a:r>
              <a:rPr lang="en-US" altLang="zh-TW" dirty="0"/>
              <a:t>User defined class must be Allocator-aware type.</a:t>
            </a:r>
          </a:p>
          <a:p>
            <a:r>
              <a:rPr lang="en-US" altLang="zh-TW" dirty="0">
                <a:hlinkClick r:id="rId2"/>
              </a:rPr>
              <a:t>Godbolt link</a:t>
            </a:r>
            <a:r>
              <a:rPr lang="en-US" altLang="zh-TW" dirty="0"/>
              <a:t> </a:t>
            </a:r>
            <a:r>
              <a:rPr lang="en-US" altLang="zh-TW" sz="2000" dirty="0"/>
              <a:t>(All four examples are included.)</a:t>
            </a:r>
          </a:p>
          <a:p>
            <a:pPr lvl="2"/>
            <a:endParaRPr lang="en-US" altLang="zh-TW" dirty="0"/>
          </a:p>
        </p:txBody>
      </p:sp>
    </p:spTree>
    <p:extLst>
      <p:ext uri="{BB962C8B-B14F-4D97-AF65-F5344CB8AC3E}">
        <p14:creationId xmlns:p14="http://schemas.microsoft.com/office/powerpoint/2010/main" val="25565104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FEA957-4BEF-CDB0-43EC-CA64A069DD52}"/>
              </a:ext>
            </a:extLst>
          </p:cNvPr>
          <p:cNvSpPr>
            <a:spLocks noGrp="1"/>
          </p:cNvSpPr>
          <p:nvPr>
            <p:ph type="ctrTitle"/>
          </p:nvPr>
        </p:nvSpPr>
        <p:spPr/>
        <p:txBody>
          <a:bodyPr/>
          <a:lstStyle/>
          <a:p>
            <a:r>
              <a:rPr lang="en-US" altLang="zh-TW" dirty="0"/>
              <a:t>Thank you!</a:t>
            </a:r>
            <a:endParaRPr lang="zh-TW" altLang="en-US" dirty="0"/>
          </a:p>
        </p:txBody>
      </p:sp>
    </p:spTree>
    <p:extLst>
      <p:ext uri="{BB962C8B-B14F-4D97-AF65-F5344CB8AC3E}">
        <p14:creationId xmlns:p14="http://schemas.microsoft.com/office/powerpoint/2010/main" val="313441921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776</TotalTime>
  <Words>3037</Words>
  <Application>Microsoft Office PowerPoint</Application>
  <PresentationFormat>寬螢幕</PresentationFormat>
  <Paragraphs>356</Paragraphs>
  <Slides>49</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49</vt:i4>
      </vt:variant>
    </vt:vector>
  </HeadingPairs>
  <TitlesOfParts>
    <vt:vector size="55" baseType="lpstr">
      <vt:lpstr>Inter</vt:lpstr>
      <vt:lpstr>ui-monospace</vt:lpstr>
      <vt:lpstr>Aptos</vt:lpstr>
      <vt:lpstr>Aptos Display</vt:lpstr>
      <vt:lpstr>Arial</vt:lpstr>
      <vt:lpstr>Office 佈景主題</vt:lpstr>
      <vt:lpstr>Allocator &amp; PMR</vt:lpstr>
      <vt:lpstr>Allocator &amp; PMR</vt:lpstr>
      <vt:lpstr>What we will NOT cover (but you may wanna know)</vt:lpstr>
      <vt:lpstr>Aside</vt:lpstr>
      <vt:lpstr>PowerPoint 簡報</vt:lpstr>
      <vt:lpstr>Aside</vt:lpstr>
      <vt:lpstr>Aside</vt:lpstr>
      <vt:lpstr>Allocator &amp; PMR</vt:lpstr>
      <vt:lpstr>Brief History: placement new</vt:lpstr>
      <vt:lpstr>Brief History: Allocator</vt:lpstr>
      <vt:lpstr>Allocator &amp; PMR</vt:lpstr>
      <vt:lpstr>Allocator: what &amp; why?</vt:lpstr>
      <vt:lpstr>PowerPoint 簡報</vt:lpstr>
      <vt:lpstr>Allocator: what &amp; why?</vt:lpstr>
      <vt:lpstr>Allocator: split memory allocation and object construct </vt:lpstr>
      <vt:lpstr>Allocator: custom allocator</vt:lpstr>
      <vt:lpstr>Allocator: custom allocator</vt:lpstr>
      <vt:lpstr>Allocator: custom allocator</vt:lpstr>
      <vt:lpstr>Allocator &amp; PMR</vt:lpstr>
      <vt:lpstr>PMR: why?</vt:lpstr>
      <vt:lpstr>PMR: why?</vt:lpstr>
      <vt:lpstr>PMR: why?</vt:lpstr>
      <vt:lpstr>PMR: why?</vt:lpstr>
      <vt:lpstr>PMR: what?</vt:lpstr>
      <vt:lpstr>PMR: 'std::pmr::memory_resource' in llvm frontend</vt:lpstr>
      <vt:lpstr>PMR: 'std::pmr::polymorphic_allocator&lt;T&gt;' intro</vt:lpstr>
      <vt:lpstr>PMR: 'std::pmr::polymorphic_allocator&lt;T&gt;' intro</vt:lpstr>
      <vt:lpstr>PMR: 'std::pmr::polymorphic_allocator&lt;T&gt;' intro</vt:lpstr>
      <vt:lpstr>PMR: 'std::pmr::polymorphic_allocator&lt;T&gt;' intro</vt:lpstr>
      <vt:lpstr>PMR: memory resource usage</vt:lpstr>
      <vt:lpstr>PMR: 'new_delete_resource()'</vt:lpstr>
      <vt:lpstr>PMR: 'null_memory_resource()'</vt:lpstr>
      <vt:lpstr>PMR: 'monotonic_buffer_resource'</vt:lpstr>
      <vt:lpstr>PMR: '(un)synchronized_pool_resource'</vt:lpstr>
      <vt:lpstr>PowerPoint 簡報</vt:lpstr>
      <vt:lpstr>PMR: custom memory resource</vt:lpstr>
      <vt:lpstr>PMR: custom memory resource</vt:lpstr>
      <vt:lpstr>Allocator &amp; PMR</vt:lpstr>
      <vt:lpstr>Allocator/PMR for user defined class</vt:lpstr>
      <vt:lpstr>Details of the allocation process</vt:lpstr>
      <vt:lpstr>Details of the allocation process</vt:lpstr>
      <vt:lpstr>'std::uses_allocator&lt;T, Alloc&gt;'</vt:lpstr>
      <vt:lpstr>Uses-allocator construction</vt:lpstr>
      <vt:lpstr>Uses-allocator construction</vt:lpstr>
      <vt:lpstr>Details of the allocation process</vt:lpstr>
      <vt:lpstr>Details of the allocation process</vt:lpstr>
      <vt:lpstr>Allocator/PMR for user defined class</vt:lpstr>
      <vt:lpstr>Allocator/PMR for user defined class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Mes</dc:creator>
  <cp:lastModifiedBy>Mes</cp:lastModifiedBy>
  <cp:revision>104</cp:revision>
  <dcterms:created xsi:type="dcterms:W3CDTF">2025-10-18T07:54:54Z</dcterms:created>
  <dcterms:modified xsi:type="dcterms:W3CDTF">2026-03-05T05:18:10Z</dcterms:modified>
</cp:coreProperties>
</file>